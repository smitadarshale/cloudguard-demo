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24384000" cy="13716000"/>
  <p:notesSz cx="13716000" cy="24384000"/>
  <p:embeddedFontLst>
    <p:embeddedFont>
      <p:font typeface="Liter" charset="-122" pitchFamily="34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font" Target="fonts/font1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EC0DA"/>
              </a:solidFill>
              <a:effectLst/>
            </c:spPr>
          </c:dPt>
          <c:dPt>
            <c:idx val="1"/>
            <c:bubble3D val="0"/>
            <c:spPr>
              <a:solidFill>
                <a:srgbClr val="5A6C7D"/>
              </a:solidFill>
              <a:effectLst/>
            </c:spPr>
          </c:dPt>
          <c:dPt>
            <c:idx val="2"/>
            <c:bubble3D val="0"/>
            <c:spPr>
              <a:solidFill>
                <a:srgbClr val="3D7C8E"/>
              </a:solidFill>
              <a:effectLst/>
            </c:spPr>
          </c:dPt>
          <c:dPt>
            <c:idx val="3"/>
            <c:bubble3D val="0"/>
            <c:spPr>
              <a:solidFill>
                <a:srgbClr val="E74C3C"/>
              </a:solidFill>
              <a:effectLst/>
            </c:spPr>
          </c:dPt>
          <c:dPt>
            <c:idx val="4"/>
            <c:bubble3D val="0"/>
            <c:spPr>
              <a:solidFill>
                <a:srgbClr val="F39C1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IAM Anomaly</c:v>
                </c:pt>
                <c:pt idx="1">
                  <c:v>Network Intrusion</c:v>
                </c:pt>
                <c:pt idx="2">
                  <c:v>Data Exfiltration</c:v>
                </c:pt>
                <c:pt idx="3">
                  <c:v>Malware</c:v>
                </c:pt>
                <c:pt idx="4">
                  <c:v>Config Drift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34</c:v>
                </c:pt>
                <c:pt idx="1">
                  <c:v>27</c:v>
                </c:pt>
                <c:pt idx="2">
                  <c:v>18</c:v>
                </c:pt>
                <c:pt idx="3">
                  <c:v>13</c:v>
                </c:pt>
                <c:pt idx="4">
                  <c:v>8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Alerts</c:v>
                </c:pt>
              </c:strCache>
            </c:strRef>
          </c:tx>
          <c:spPr>
            <a:solidFill>
              <a:srgbClr val="5A6C7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00</c:v>
                  </c:pt>
                  <c:pt idx="1">
                    <c:v>03</c:v>
                  </c:pt>
                  <c:pt idx="2">
                    <c:v>06</c:v>
                  </c:pt>
                  <c:pt idx="3">
                    <c:v>09</c:v>
                  </c:pt>
                  <c:pt idx="4">
                    <c:v>12</c:v>
                  </c:pt>
                  <c:pt idx="5">
                    <c:v>15</c:v>
                  </c:pt>
                  <c:pt idx="6">
                    <c:v>18</c:v>
                  </c:pt>
                  <c:pt idx="7">
                    <c:v>21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</c:v>
                </c:pt>
                <c:pt idx="1">
                  <c:v>1</c:v>
                </c:pt>
                <c:pt idx="2">
                  <c:v>3</c:v>
                </c:pt>
                <c:pt idx="3">
                  <c:v>5</c:v>
                </c:pt>
                <c:pt idx="4">
                  <c:v>8</c:v>
                </c:pt>
                <c:pt idx="5">
                  <c:v>6</c:v>
                </c:pt>
                <c:pt idx="6">
                  <c:v>4</c:v>
                </c:pt>
                <c:pt idx="7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Critical Only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00</c:v>
                  </c:pt>
                  <c:pt idx="1">
                    <c:v>03</c:v>
                  </c:pt>
                  <c:pt idx="2">
                    <c:v>06</c:v>
                  </c:pt>
                  <c:pt idx="3">
                    <c:v>09</c:v>
                  </c:pt>
                  <c:pt idx="4">
                    <c:v>12</c:v>
                  </c:pt>
                  <c:pt idx="5">
                    <c:v>15</c:v>
                  </c:pt>
                  <c:pt idx="6">
                    <c:v>18</c:v>
                  </c:pt>
                  <c:pt idx="7">
                    <c:v>21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2</c:v>
                </c:pt>
                <c:pt idx="4">
                  <c:v>3</c:v>
                </c:pt>
                <c:pt idx="5">
                  <c:v>2</c:v>
                </c:pt>
                <c:pt idx="6">
                  <c:v>1</c:v>
                </c:pt>
                <c:pt idx="7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444444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444444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in/darshalesmita" TargetMode="Externa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oe5pvur7euouc/mnt/agents/output/tenex-cloudguard/images/1_Cybersecurity_dark_background_Images.png">    </p:cNvPr>
          <p:cNvPicPr>
            <a:picLocks noChangeAspect="1"/>
          </p:cNvPicPr>
          <p:nvPr/>
        </p:nvPicPr>
        <p:blipFill>
          <a:blip r:embed="rId1"/>
          <a:srcRect l="150" r="150" t="0" b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rotWithShape="1" flip="none">
            <a:gsLst>
              <a:gs pos="0">
                <a:srgbClr val="292929"/>
              </a:gs>
              <a:gs pos="50000">
                <a:srgbClr val="292929">
                  <a:alpha val="87000"/>
                </a:srgbClr>
              </a:gs>
              <a:gs pos="100000">
                <a:srgbClr val="292929">
                  <a:alpha val="6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244600" y="2540000"/>
            <a:ext cx="15240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80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TENEX CloudGuard</a:t>
            </a:r>
            <a:endParaRPr lang="en-US" sz="8000" dirty="0"/>
          </a:p>
          <a:p>
            <a:pPr>
              <a:lnSpc>
                <a:spcPct val="120000"/>
              </a:lnSpc>
            </a:pPr>
            <a:r>
              <a:rPr lang="en-US" sz="8000" b="1" spc="-120" kern="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AWS Security Command Center</a:t>
            </a:r>
            <a:endParaRPr lang="en-US" sz="8000" dirty="0"/>
          </a:p>
        </p:txBody>
      </p:sp>
      <p:sp>
        <p:nvSpPr>
          <p:cNvPr id="5" name="Shape 2"/>
          <p:cNvSpPr/>
          <p:nvPr/>
        </p:nvSpPr>
        <p:spPr>
          <a:xfrm>
            <a:off x="1244600" y="5588000"/>
            <a:ext cx="1524000" cy="508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6" name="Text 3"/>
          <p:cNvSpPr/>
          <p:nvPr/>
        </p:nvSpPr>
        <p:spPr>
          <a:xfrm>
            <a:off x="1244600" y="5969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AI-Powered Threat Detection &amp; Triage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244600" y="10414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Smita Darshale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| Software Engineer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44600" y="111760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smita.darshale@gmail.com | linkedin.com/in/darshalesmita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016000"/>
            <a:ext cx="1143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44600" y="19685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2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teams are drowning in alerts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44600" y="3556000"/>
            <a:ext cx="215900" cy="2159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5" name="Text 3"/>
          <p:cNvSpPr/>
          <p:nvPr/>
        </p:nvSpPr>
        <p:spPr>
          <a:xfrm>
            <a:off x="1778000" y="3429000"/>
            <a:ext cx="215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Traditional SOCs take </a:t>
            </a:r>
            <a:pPr>
              <a:lnSpc>
                <a:spcPct val="15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38 minutes</a:t>
            </a:r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on average to triage a single alert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244600" y="4572000"/>
            <a:ext cx="215900" cy="2159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7" name="Text 5"/>
          <p:cNvSpPr/>
          <p:nvPr/>
        </p:nvSpPr>
        <p:spPr>
          <a:xfrm>
            <a:off x="1778000" y="4445000"/>
            <a:ext cx="215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Analysts review </a:t>
            </a:r>
            <a:pPr>
              <a:lnSpc>
                <a:spcPct val="15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thousands of alerts daily</a:t>
            </a:r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most are noise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244600" y="5588000"/>
            <a:ext cx="215900" cy="2159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9" name="Text 7"/>
          <p:cNvSpPr/>
          <p:nvPr/>
        </p:nvSpPr>
        <p:spPr>
          <a:xfrm>
            <a:off x="1778000" y="5461000"/>
            <a:ext cx="215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threats get missed because teams are buried in </a:t>
            </a:r>
            <a:pPr>
              <a:lnSpc>
                <a:spcPct val="15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false positives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244600" y="6604000"/>
            <a:ext cx="215900" cy="2159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1" name="Text 9"/>
          <p:cNvSpPr/>
          <p:nvPr/>
        </p:nvSpPr>
        <p:spPr>
          <a:xfrm>
            <a:off x="1778000" y="6477000"/>
            <a:ext cx="215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Manual triage is </a:t>
            </a:r>
            <a:pPr>
              <a:lnSpc>
                <a:spcPct val="15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slow, inconsistent, and doesn't scale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244600" y="7620000"/>
            <a:ext cx="215900" cy="21590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3" name="Text 11"/>
          <p:cNvSpPr/>
          <p:nvPr/>
        </p:nvSpPr>
        <p:spPr>
          <a:xfrm>
            <a:off x="1778000" y="7493000"/>
            <a:ext cx="215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cost of a missed alert = a breach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244600" y="9144000"/>
            <a:ext cx="5080000" cy="381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15" name="Text 13"/>
          <p:cNvSpPr/>
          <p:nvPr/>
        </p:nvSpPr>
        <p:spPr>
          <a:xfrm>
            <a:off x="1244600" y="9525000"/>
            <a:ext cx="1016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Industry average: </a:t>
            </a:r>
            <a:pPr>
              <a:lnSpc>
                <a:spcPct val="140000"/>
              </a:lnSpc>
            </a:pPr>
            <a:r>
              <a:rPr lang="en-US" sz="28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38 minutes</a:t>
            </a:r>
            <a:pPr>
              <a:lnSpc>
                <a:spcPct val="140000"/>
              </a:lnSpc>
            </a:pPr>
            <a:r>
              <a:rPr lang="en-US" sz="2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per alert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TENEX target: </a:t>
            </a:r>
            <a:pPr>
              <a:lnSpc>
                <a:spcPct val="140000"/>
              </a:lnSpc>
            </a:pPr>
            <a:r>
              <a:rPr lang="en-US" sz="28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 2 minutes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016000"/>
            <a:ext cx="1397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Solution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44600" y="1968500"/>
            <a:ext cx="1397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2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TENEX.ai: AI-Native, Human-Led SOC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44600" y="3556000"/>
            <a:ext cx="215900" cy="2159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5" name="Text 3"/>
          <p:cNvSpPr/>
          <p:nvPr/>
        </p:nvSpPr>
        <p:spPr>
          <a:xfrm>
            <a:off x="1778000" y="3429000"/>
            <a:ext cx="215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Triages every alert in </a:t>
            </a:r>
            <a:pPr>
              <a:lnSpc>
                <a:spcPct val="15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 2 minutes</a:t>
            </a:r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using domain-specific AI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244600" y="4572000"/>
            <a:ext cx="215900" cy="2159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7" name="Text 5"/>
          <p:cNvSpPr/>
          <p:nvPr/>
        </p:nvSpPr>
        <p:spPr>
          <a:xfrm>
            <a:off x="1778000" y="4445000"/>
            <a:ext cx="215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 alert coverage</a:t>
            </a:r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nothing skipped, nothing missed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244600" y="5588000"/>
            <a:ext cx="215900" cy="2159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9" name="Text 7"/>
          <p:cNvSpPr/>
          <p:nvPr/>
        </p:nvSpPr>
        <p:spPr>
          <a:xfrm>
            <a:off x="1778000" y="5461000"/>
            <a:ext cx="215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98% false positive elimination</a:t>
            </a:r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analysts focus on what matters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244600" y="6604000"/>
            <a:ext cx="215900" cy="2159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1" name="Text 9"/>
          <p:cNvSpPr/>
          <p:nvPr/>
        </p:nvSpPr>
        <p:spPr>
          <a:xfrm>
            <a:off x="1778000" y="6477000"/>
            <a:ext cx="215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Human experts handle </a:t>
            </a:r>
            <a:pPr>
              <a:lnSpc>
                <a:spcPct val="15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every critical decision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244600" y="7620000"/>
            <a:ext cx="215900" cy="2159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3" name="Text 11"/>
          <p:cNvSpPr/>
          <p:nvPr/>
        </p:nvSpPr>
        <p:spPr>
          <a:xfrm>
            <a:off x="1778000" y="7493000"/>
            <a:ext cx="215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Gets smarter with every alert through </a:t>
            </a:r>
            <a:pPr>
              <a:lnSpc>
                <a:spcPct val="15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continuous feedback loops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244600" y="9144000"/>
            <a:ext cx="5080000" cy="381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15" name="Text 13"/>
          <p:cNvSpPr/>
          <p:nvPr/>
        </p:nvSpPr>
        <p:spPr>
          <a:xfrm>
            <a:off x="1244600" y="9525000"/>
            <a:ext cx="1143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AI-powered triage + Human oversight = </a:t>
            </a:r>
            <a:pPr>
              <a:lnSpc>
                <a:spcPct val="140000"/>
              </a:lnSpc>
            </a:pPr>
            <a:r>
              <a:rPr lang="en-US" sz="28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best of both worlds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016000"/>
            <a:ext cx="1143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I Built This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44600" y="19685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2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Turning curiosity into a working demo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44600" y="3302000"/>
            <a:ext cx="21590000" cy="6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After studying TENEX.ai's platform I wanted to go beyond understanding it — </a:t>
            </a:r>
            <a:pPr>
              <a:lnSpc>
                <a:spcPct val="15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 wanted to build it.</a:t>
            </a:r>
            <a:endParaRPr lang="en-US" sz="2400" dirty="0"/>
          </a:p>
          <a:p>
            <a:pPr>
              <a:lnSpc>
                <a:spcPct val="150000"/>
              </a:lnSpc>
              <a:spcBef>
                <a:spcPts val="2400"/>
              </a:spcBef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Using AI tools alongside my cloud and security engineering background, I created a </a:t>
            </a:r>
            <a:pPr>
              <a:lnSpc>
                <a:spcPct val="150000"/>
              </a:lnSpc>
              <a:spcBef>
                <a:spcPts val="2400"/>
              </a:spcBef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fully interactive AWS Security Command Center</a:t>
            </a:r>
            <a:pPr>
              <a:lnSpc>
                <a:spcPct val="150000"/>
              </a:lnSpc>
              <a:spcBef>
                <a:spcPts val="2400"/>
              </a:spcBef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that simulates TENEX's core workflow from the ground up.</a:t>
            </a:r>
            <a:endParaRPr lang="en-US" sz="2400" dirty="0"/>
          </a:p>
          <a:p>
            <a:pPr>
              <a:lnSpc>
                <a:spcPct val="150000"/>
              </a:lnSpc>
              <a:spcBef>
                <a:spcPts val="2400"/>
              </a:spcBef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Every alert scenario, triage factor, and recommendation is grounded in </a:t>
            </a:r>
            <a:pPr>
              <a:lnSpc>
                <a:spcPct val="150000"/>
              </a:lnSpc>
              <a:spcBef>
                <a:spcPts val="2400"/>
              </a:spcBef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cloud security experience</a:t>
            </a:r>
            <a:pPr>
              <a:lnSpc>
                <a:spcPct val="150000"/>
              </a:lnSpc>
              <a:spcBef>
                <a:spcPts val="2400"/>
              </a:spcBef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from my career at Oracle and Cerner.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44600" y="10160000"/>
            <a:ext cx="2540000" cy="508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6" name="Text 4"/>
          <p:cNvSpPr/>
          <p:nvPr/>
        </p:nvSpPr>
        <p:spPr>
          <a:xfrm>
            <a:off x="1244600" y="10541000"/>
            <a:ext cx="1143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Built with HTML5, CSS3, Vanilla JavaScript, and Chart.js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frameworks. No backend. Single file.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016000"/>
            <a:ext cx="1524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 Background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44600" y="19685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2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10+ years of experience that connects directly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192000" y="3048000"/>
            <a:ext cx="25400" cy="889000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5" name="Text 3"/>
          <p:cNvSpPr/>
          <p:nvPr/>
        </p:nvSpPr>
        <p:spPr>
          <a:xfrm>
            <a:off x="1244600" y="3175000"/>
            <a:ext cx="1016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Oracle America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| 2021–2026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44600" y="4191000"/>
            <a:ext cx="177800" cy="1778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7" name="Text 5"/>
          <p:cNvSpPr/>
          <p:nvPr/>
        </p:nvSpPr>
        <p:spPr>
          <a:xfrm>
            <a:off x="1651000" y="4064000"/>
            <a:ext cx="990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 OCI cloud infrastructure expertise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244600" y="4889500"/>
            <a:ext cx="177800" cy="1778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9" name="Text 7"/>
          <p:cNvSpPr/>
          <p:nvPr/>
        </p:nvSpPr>
        <p:spPr>
          <a:xfrm>
            <a:off x="1651000" y="4762500"/>
            <a:ext cx="990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Terraform, Kubernetes, CI/CD pipelines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244600" y="5588000"/>
            <a:ext cx="177800" cy="1778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1" name="Text 9"/>
          <p:cNvSpPr/>
          <p:nvPr/>
        </p:nvSpPr>
        <p:spPr>
          <a:xfrm>
            <a:off x="1651000" y="5461000"/>
            <a:ext cx="990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hardening with Twistlock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244600" y="6286500"/>
            <a:ext cx="177800" cy="1778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3" name="Text 11"/>
          <p:cNvSpPr/>
          <p:nvPr/>
        </p:nvSpPr>
        <p:spPr>
          <a:xfrm>
            <a:off x="1651000" y="6159500"/>
            <a:ext cx="990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Observability: Grafana, Splunk, Dynatrace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244600" y="6985000"/>
            <a:ext cx="177800" cy="1778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5" name="Text 13"/>
          <p:cNvSpPr/>
          <p:nvPr/>
        </p:nvSpPr>
        <p:spPr>
          <a:xfrm>
            <a:off x="1651000" y="6858000"/>
            <a:ext cx="990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Incident response and root cause analysis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700000" y="3175000"/>
            <a:ext cx="1016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Cerner / Oracle Health</a:t>
            </a:r>
            <a:pPr>
              <a:lnSpc>
                <a:spcPct val="100000"/>
              </a:lnSpc>
            </a:pPr>
            <a:r>
              <a:rPr lang="en-US" sz="28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| 2021–2022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2700000" y="4191000"/>
            <a:ext cx="177800" cy="1778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8" name="Text 16"/>
          <p:cNvSpPr/>
          <p:nvPr/>
        </p:nvSpPr>
        <p:spPr>
          <a:xfrm>
            <a:off x="13106400" y="4064000"/>
            <a:ext cx="1041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Designed and managed AWS environments for healthcare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2700000" y="4889500"/>
            <a:ext cx="177800" cy="1778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20" name="Text 18"/>
          <p:cNvSpPr/>
          <p:nvPr/>
        </p:nvSpPr>
        <p:spPr>
          <a:xfrm>
            <a:off x="13106400" y="4762500"/>
            <a:ext cx="1041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HIPAA and PHI compliance enforcement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2700000" y="5588000"/>
            <a:ext cx="177800" cy="1778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22" name="Text 20"/>
          <p:cNvSpPr/>
          <p:nvPr/>
        </p:nvSpPr>
        <p:spPr>
          <a:xfrm>
            <a:off x="13106400" y="5461000"/>
            <a:ext cx="1041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Led full AWS to OCI cloud migration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12700000" y="6286500"/>
            <a:ext cx="177800" cy="1778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24" name="Text 22"/>
          <p:cNvSpPr/>
          <p:nvPr/>
        </p:nvSpPr>
        <p:spPr>
          <a:xfrm>
            <a:off x="13106400" y="6159500"/>
            <a:ext cx="1041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Oracle HealtheIntent Questionnaire Response API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12700000" y="6985000"/>
            <a:ext cx="177800" cy="1778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26" name="Text 24"/>
          <p:cNvSpPr/>
          <p:nvPr/>
        </p:nvSpPr>
        <p:spPr>
          <a:xfrm>
            <a:off x="13106400" y="6858000"/>
            <a:ext cx="1041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 patient data systems at scale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016000"/>
            <a:ext cx="1524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HealtheIntent API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44600" y="19685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2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 healthcare data experience from Cerner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44600" y="33020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it 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44600" y="3937000"/>
            <a:ext cx="215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Oracle HealtheIntent Questionnaire Response API is a production healthcare data API that retrieves and processes structured patient questionnaire responses across clinical populations.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44600" y="53340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 did with it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44600" y="6096000"/>
            <a:ext cx="177800" cy="1778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8" name="Text 6"/>
          <p:cNvSpPr/>
          <p:nvPr/>
        </p:nvSpPr>
        <p:spPr>
          <a:xfrm>
            <a:off x="1651000" y="59690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Worked with HIPAA-filtered, population-scoped patient data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244600" y="6731000"/>
            <a:ext cx="177800" cy="1778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0" name="Text 8"/>
          <p:cNvSpPr/>
          <p:nvPr/>
        </p:nvSpPr>
        <p:spPr>
          <a:xfrm>
            <a:off x="1651000" y="66040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Handled complex nested data structures — questions, answers, coded clinical values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244600" y="7366000"/>
            <a:ext cx="177800" cy="1778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2" name="Text 10"/>
          <p:cNvSpPr/>
          <p:nvPr/>
        </p:nvSpPr>
        <p:spPr>
          <a:xfrm>
            <a:off x="1651000" y="72390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Understood the sensitivity and compliance requirements of real PHI data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44600" y="85090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it matters for TENEX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44600" y="9144000"/>
            <a:ext cx="2159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TENEX serves healthcare clients. My experience building and working with healthcare APIs means I understand </a:t>
            </a:r>
            <a:pPr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both the infrastructure and the data sensitivity</a:t>
            </a:r>
            <a:pPr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a combination that is rare in cloud engineers.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244600" y="10922000"/>
            <a:ext cx="2540000" cy="50800"/>
          </a:xfrm>
          <a:prstGeom prst="rect">
            <a:avLst/>
          </a:prstGeom>
          <a:solidFill>
            <a:srgbClr val="7EC0D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016000"/>
            <a:ext cx="1524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Overview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44600" y="1968500"/>
            <a:ext cx="1524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2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Four KPIs that mirror TENEX's value proposition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44600" y="3556000"/>
            <a:ext cx="5334000" cy="4064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1244600" y="3810000"/>
            <a:ext cx="5334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44600" y="5334000"/>
            <a:ext cx="533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Alerts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98600" y="6096000"/>
            <a:ext cx="482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 24-hour coverage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Nothing skipped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086600" y="3556000"/>
            <a:ext cx="5334000" cy="4064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7086600" y="3810000"/>
            <a:ext cx="5334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86600" y="5334000"/>
            <a:ext cx="533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/ High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40600" y="6096000"/>
            <a:ext cx="482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Instant prioritization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analysts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928600" y="3556000"/>
            <a:ext cx="5334000" cy="4064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12928600" y="3810000"/>
            <a:ext cx="5334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1m 42s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928600" y="5334000"/>
            <a:ext cx="533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Avg Triage Time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182600" y="6096000"/>
            <a:ext cx="482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vs. industry average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of 38 minutes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8770600" y="3556000"/>
            <a:ext cx="5334000" cy="4064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18770600" y="3810000"/>
            <a:ext cx="5334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8770600" y="5334000"/>
            <a:ext cx="533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False Positives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9024600" y="6096000"/>
            <a:ext cx="482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98% eliminated before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reaching the analyst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44600" y="8636000"/>
            <a:ext cx="5080000" cy="381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21" name="Text 19"/>
          <p:cNvSpPr/>
          <p:nvPr/>
        </p:nvSpPr>
        <p:spPr>
          <a:xfrm>
            <a:off x="1244600" y="9017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Every metric is grounded in </a:t>
            </a:r>
            <a:pPr>
              <a:lnSpc>
                <a:spcPct val="10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threat scenarios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016000"/>
            <a:ext cx="1143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Alert Feed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44600" y="19685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2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 real-world AWS threat scenarios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44600" y="3048000"/>
          <a:ext cx="21894800" cy="8636000"/>
        </p:xfrm>
        <a:graphic>
          <a:graphicData uri="http://schemas.openxmlformats.org/drawingml/2006/table">
            <a:tbl>
              <a:tblPr/>
              <a:tblGrid>
                <a:gridCol w="3284220"/>
                <a:gridCol w="8757920"/>
                <a:gridCol w="5473700"/>
                <a:gridCol w="4378960"/>
              </a:tblGrid>
              <a:tr h="863600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Severity</a:t>
                      </a:r>
                      <a:endParaRPr lang="en-US" sz="2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Alert</a:t>
                      </a:r>
                      <a:endParaRPr lang="en-US" sz="2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Service</a:t>
                      </a:r>
                      <a:endParaRPr lang="en-US" sz="2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Region</a:t>
                      </a:r>
                      <a:endParaRPr lang="en-US" sz="2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0DA"/>
                    </a:solidFill>
                  </a:tcPr>
                </a:tc>
              </a:tr>
              <a:tr h="86360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E74C3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CRITICAL</a:t>
                      </a:r>
                      <a:endParaRPr lang="en-US" sz="2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IAM privilege escalation</a:t>
                      </a:r>
                      <a:endParaRPr lang="en-US" sz="2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AWS CloudTrail</a:t>
                      </a:r>
                      <a:endParaRPr lang="en-US" sz="2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us-east-1</a:t>
                      </a:r>
                      <a:endParaRPr lang="en-US" sz="2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86360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E74C3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CRITICAL</a:t>
                      </a:r>
                      <a:endParaRPr lang="en-US" sz="2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Unusual S3 data exfiltration</a:t>
                      </a:r>
                      <a:endParaRPr lang="en-US" sz="2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AWS GuardDuty</a:t>
                      </a:r>
                      <a:endParaRPr lang="en-US" sz="2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us-west-2</a:t>
                      </a:r>
                      <a:endParaRPr lang="en-US" sz="2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</a:tr>
              <a:tr h="86360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39C12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HIGH</a:t>
                      </a:r>
                      <a:endParaRPr lang="en-US" sz="2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EC2 cryptomining detected</a:t>
                      </a:r>
                      <a:endParaRPr lang="en-US" sz="2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AWS GuardDuty</a:t>
                      </a:r>
                      <a:endParaRPr lang="en-US" sz="2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eu-west-1</a:t>
                      </a:r>
                      <a:endParaRPr lang="en-US" sz="2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86360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39C12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HIGH</a:t>
                      </a:r>
                      <a:endParaRPr lang="en-US" sz="2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CloudTrail logging disabled</a:t>
                      </a:r>
                      <a:endParaRPr lang="en-US" sz="2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AWS CloudTrail</a:t>
                      </a:r>
                      <a:endParaRPr lang="en-US" sz="2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us-east-1</a:t>
                      </a:r>
                      <a:endParaRPr lang="en-US" sz="2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</a:tr>
              <a:tr h="86360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39C12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HIGH</a:t>
                      </a:r>
                      <a:endParaRPr lang="en-US" sz="2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Security group SSH open to internet</a:t>
                      </a:r>
                      <a:endParaRPr lang="en-US" sz="2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AWS Config</a:t>
                      </a:r>
                      <a:endParaRPr lang="en-US" sz="2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us-east-2</a:t>
                      </a:r>
                      <a:endParaRPr lang="en-US" sz="2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86360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498D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MEDIUM</a:t>
                      </a:r>
                      <a:endParaRPr lang="en-US" sz="2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VPC flow log anomaly / lateral movement</a:t>
                      </a:r>
                      <a:endParaRPr lang="en-US" sz="2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VPC Flow Logs</a:t>
                      </a:r>
                      <a:endParaRPr lang="en-US" sz="2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us-east-1</a:t>
                      </a:r>
                      <a:endParaRPr lang="en-US" sz="2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</a:tr>
              <a:tr h="86360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498D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MEDIUM</a:t>
                      </a:r>
                      <a:endParaRPr lang="en-US" sz="2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Port scan detected</a:t>
                      </a:r>
                      <a:endParaRPr lang="en-US" sz="2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AWS GuardDuty</a:t>
                      </a:r>
                      <a:endParaRPr lang="en-US" sz="2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ap-southeast-1</a:t>
                      </a:r>
                      <a:endParaRPr lang="en-US" sz="2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86360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498D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MEDIUM</a:t>
                      </a:r>
                      <a:endParaRPr lang="en-US" sz="2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Root account login detected</a:t>
                      </a:r>
                      <a:endParaRPr lang="en-US" sz="2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AWS CloudTrail</a:t>
                      </a:r>
                      <a:endParaRPr lang="en-US" sz="2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global</a:t>
                      </a:r>
                      <a:endParaRPr lang="en-US" sz="2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</a:tr>
              <a:tr h="86360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2ECC71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LOW</a:t>
                      </a:r>
                      <a:endParaRPr lang="en-US" sz="2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Unused IAM access key 90+ days</a:t>
                      </a:r>
                      <a:endParaRPr lang="en-US" sz="2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AWS IAM</a:t>
                      </a:r>
                      <a:endParaRPr lang="en-US" sz="2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global</a:t>
                      </a:r>
                      <a:endParaRPr lang="en-US" sz="20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244600" y="12065000"/>
            <a:ext cx="152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Every scenario is modeled on real attacker techniques — not placeholder data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016000"/>
            <a:ext cx="1524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Triage Engine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44600" y="19685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2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Four-factor risk scoring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44600" y="3302000"/>
            <a:ext cx="5334000" cy="2286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1619250" y="3683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285750" y="-15875"/>
                </a:moveTo>
                <a:cubicBezTo>
                  <a:pt x="303312" y="-15875"/>
                  <a:pt x="317500" y="-1687"/>
                  <a:pt x="317500" y="15875"/>
                </a:cubicBezTo>
                <a:lnTo>
                  <a:pt x="317500" y="34032"/>
                </a:lnTo>
                <a:cubicBezTo>
                  <a:pt x="414834" y="47923"/>
                  <a:pt x="491827" y="124916"/>
                  <a:pt x="505718" y="222250"/>
                </a:cubicBezTo>
                <a:lnTo>
                  <a:pt x="523875" y="222250"/>
                </a:lnTo>
                <a:cubicBezTo>
                  <a:pt x="541437" y="222250"/>
                  <a:pt x="555625" y="236438"/>
                  <a:pt x="555625" y="254000"/>
                </a:cubicBezTo>
                <a:cubicBezTo>
                  <a:pt x="555625" y="271562"/>
                  <a:pt x="541437" y="285750"/>
                  <a:pt x="523875" y="285750"/>
                </a:cubicBezTo>
                <a:lnTo>
                  <a:pt x="505718" y="285750"/>
                </a:lnTo>
                <a:cubicBezTo>
                  <a:pt x="491827" y="383084"/>
                  <a:pt x="414834" y="460077"/>
                  <a:pt x="317500" y="473968"/>
                </a:cubicBezTo>
                <a:lnTo>
                  <a:pt x="317500" y="492125"/>
                </a:lnTo>
                <a:cubicBezTo>
                  <a:pt x="317500" y="509687"/>
                  <a:pt x="303312" y="523875"/>
                  <a:pt x="285750" y="523875"/>
                </a:cubicBezTo>
                <a:cubicBezTo>
                  <a:pt x="268188" y="523875"/>
                  <a:pt x="254000" y="509687"/>
                  <a:pt x="254000" y="492125"/>
                </a:cubicBezTo>
                <a:lnTo>
                  <a:pt x="254000" y="473968"/>
                </a:lnTo>
                <a:cubicBezTo>
                  <a:pt x="156666" y="460077"/>
                  <a:pt x="79673" y="383084"/>
                  <a:pt x="65782" y="285750"/>
                </a:cubicBezTo>
                <a:lnTo>
                  <a:pt x="47625" y="285750"/>
                </a:lnTo>
                <a:cubicBezTo>
                  <a:pt x="30063" y="285750"/>
                  <a:pt x="15875" y="271562"/>
                  <a:pt x="15875" y="254000"/>
                </a:cubicBezTo>
                <a:cubicBezTo>
                  <a:pt x="15875" y="236438"/>
                  <a:pt x="30063" y="222250"/>
                  <a:pt x="47625" y="222250"/>
                </a:cubicBezTo>
                <a:lnTo>
                  <a:pt x="65782" y="222250"/>
                </a:lnTo>
                <a:cubicBezTo>
                  <a:pt x="79673" y="124916"/>
                  <a:pt x="156666" y="47923"/>
                  <a:pt x="254000" y="34032"/>
                </a:cubicBezTo>
                <a:lnTo>
                  <a:pt x="254000" y="15875"/>
                </a:lnTo>
                <a:cubicBezTo>
                  <a:pt x="254000" y="-1687"/>
                  <a:pt x="268188" y="-15875"/>
                  <a:pt x="285750" y="-15875"/>
                </a:cubicBezTo>
                <a:close/>
                <a:moveTo>
                  <a:pt x="130175" y="285750"/>
                </a:moveTo>
                <a:cubicBezTo>
                  <a:pt x="142776" y="347960"/>
                  <a:pt x="191790" y="396974"/>
                  <a:pt x="254000" y="409575"/>
                </a:cubicBezTo>
                <a:lnTo>
                  <a:pt x="254000" y="396875"/>
                </a:lnTo>
                <a:cubicBezTo>
                  <a:pt x="254000" y="379313"/>
                  <a:pt x="268188" y="365125"/>
                  <a:pt x="285750" y="365125"/>
                </a:cubicBezTo>
                <a:cubicBezTo>
                  <a:pt x="303312" y="365125"/>
                  <a:pt x="317500" y="379313"/>
                  <a:pt x="317500" y="396875"/>
                </a:cubicBezTo>
                <a:lnTo>
                  <a:pt x="317500" y="409575"/>
                </a:lnTo>
                <a:cubicBezTo>
                  <a:pt x="379710" y="396974"/>
                  <a:pt x="428724" y="347960"/>
                  <a:pt x="441325" y="285750"/>
                </a:cubicBezTo>
                <a:lnTo>
                  <a:pt x="428625" y="285750"/>
                </a:lnTo>
                <a:cubicBezTo>
                  <a:pt x="411063" y="285750"/>
                  <a:pt x="396875" y="271562"/>
                  <a:pt x="396875" y="254000"/>
                </a:cubicBezTo>
                <a:cubicBezTo>
                  <a:pt x="396875" y="236438"/>
                  <a:pt x="411063" y="222250"/>
                  <a:pt x="428625" y="222250"/>
                </a:cubicBezTo>
                <a:lnTo>
                  <a:pt x="441325" y="222250"/>
                </a:lnTo>
                <a:cubicBezTo>
                  <a:pt x="428724" y="160040"/>
                  <a:pt x="379710" y="111026"/>
                  <a:pt x="317500" y="98425"/>
                </a:cubicBezTo>
                <a:lnTo>
                  <a:pt x="317500" y="111125"/>
                </a:lnTo>
                <a:cubicBezTo>
                  <a:pt x="317500" y="128687"/>
                  <a:pt x="303312" y="142875"/>
                  <a:pt x="285750" y="142875"/>
                </a:cubicBezTo>
                <a:cubicBezTo>
                  <a:pt x="268188" y="142875"/>
                  <a:pt x="254000" y="128687"/>
                  <a:pt x="254000" y="111125"/>
                </a:cubicBezTo>
                <a:lnTo>
                  <a:pt x="254000" y="98425"/>
                </a:lnTo>
                <a:cubicBezTo>
                  <a:pt x="191790" y="111026"/>
                  <a:pt x="142776" y="160040"/>
                  <a:pt x="130175" y="222250"/>
                </a:cubicBezTo>
                <a:lnTo>
                  <a:pt x="142875" y="222250"/>
                </a:lnTo>
                <a:cubicBezTo>
                  <a:pt x="160437" y="222250"/>
                  <a:pt x="174625" y="236438"/>
                  <a:pt x="174625" y="254000"/>
                </a:cubicBezTo>
                <a:cubicBezTo>
                  <a:pt x="174625" y="271562"/>
                  <a:pt x="160437" y="285750"/>
                  <a:pt x="142875" y="285750"/>
                </a:cubicBezTo>
                <a:lnTo>
                  <a:pt x="130175" y="285750"/>
                </a:lnTo>
                <a:close/>
                <a:moveTo>
                  <a:pt x="285750" y="206375"/>
                </a:moveTo>
                <a:cubicBezTo>
                  <a:pt x="312035" y="206375"/>
                  <a:pt x="333375" y="227715"/>
                  <a:pt x="333375" y="254000"/>
                </a:cubicBezTo>
                <a:cubicBezTo>
                  <a:pt x="333375" y="280285"/>
                  <a:pt x="312035" y="301625"/>
                  <a:pt x="285750" y="301625"/>
                </a:cubicBezTo>
                <a:cubicBezTo>
                  <a:pt x="259465" y="301625"/>
                  <a:pt x="238125" y="280285"/>
                  <a:pt x="238125" y="254000"/>
                </a:cubicBezTo>
                <a:cubicBezTo>
                  <a:pt x="238125" y="227715"/>
                  <a:pt x="259465" y="206375"/>
                  <a:pt x="285750" y="206375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6" name="Text 4"/>
          <p:cNvSpPr/>
          <p:nvPr/>
        </p:nvSpPr>
        <p:spPr>
          <a:xfrm>
            <a:off x="2413000" y="3683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Likelihood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51000" y="4445000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 this a real threat or noise?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086600" y="3302000"/>
            <a:ext cx="5334000" cy="2286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Shape 7"/>
          <p:cNvSpPr/>
          <p:nvPr/>
        </p:nvSpPr>
        <p:spPr>
          <a:xfrm>
            <a:off x="7493000" y="3683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-31750"/>
                </a:moveTo>
                <a:cubicBezTo>
                  <a:pt x="267196" y="-31750"/>
                  <a:pt x="277813" y="-21134"/>
                  <a:pt x="277813" y="-7937"/>
                </a:cubicBezTo>
                <a:lnTo>
                  <a:pt x="277813" y="39688"/>
                </a:lnTo>
                <a:cubicBezTo>
                  <a:pt x="277813" y="52884"/>
                  <a:pt x="267196" y="63500"/>
                  <a:pt x="254000" y="63500"/>
                </a:cubicBezTo>
                <a:cubicBezTo>
                  <a:pt x="240804" y="63500"/>
                  <a:pt x="230188" y="52884"/>
                  <a:pt x="230188" y="39688"/>
                </a:cubicBezTo>
                <a:lnTo>
                  <a:pt x="230188" y="-7937"/>
                </a:lnTo>
                <a:cubicBezTo>
                  <a:pt x="230188" y="-21134"/>
                  <a:pt x="240804" y="-31750"/>
                  <a:pt x="254000" y="-31750"/>
                </a:cubicBezTo>
                <a:close/>
                <a:moveTo>
                  <a:pt x="254000" y="127000"/>
                </a:moveTo>
                <a:cubicBezTo>
                  <a:pt x="266303" y="127000"/>
                  <a:pt x="276523" y="136327"/>
                  <a:pt x="277713" y="148530"/>
                </a:cubicBezTo>
                <a:lnTo>
                  <a:pt x="291108" y="289322"/>
                </a:lnTo>
                <a:lnTo>
                  <a:pt x="463947" y="11212"/>
                </a:lnTo>
                <a:cubicBezTo>
                  <a:pt x="470595" y="595"/>
                  <a:pt x="484287" y="-3175"/>
                  <a:pt x="495399" y="2778"/>
                </a:cubicBezTo>
                <a:cubicBezTo>
                  <a:pt x="506512" y="8731"/>
                  <a:pt x="511076" y="22126"/>
                  <a:pt x="505916" y="33536"/>
                </a:cubicBezTo>
                <a:lnTo>
                  <a:pt x="369888" y="335955"/>
                </a:lnTo>
                <a:cubicBezTo>
                  <a:pt x="372070" y="338237"/>
                  <a:pt x="374154" y="340618"/>
                  <a:pt x="376138" y="342999"/>
                </a:cubicBezTo>
                <a:lnTo>
                  <a:pt x="472579" y="288727"/>
                </a:lnTo>
                <a:cubicBezTo>
                  <a:pt x="482997" y="282873"/>
                  <a:pt x="495995" y="285651"/>
                  <a:pt x="503238" y="295077"/>
                </a:cubicBezTo>
                <a:cubicBezTo>
                  <a:pt x="510480" y="304502"/>
                  <a:pt x="509488" y="317897"/>
                  <a:pt x="501055" y="326330"/>
                </a:cubicBezTo>
                <a:lnTo>
                  <a:pt x="414734" y="412651"/>
                </a:lnTo>
                <a:lnTo>
                  <a:pt x="343892" y="412651"/>
                </a:lnTo>
                <a:cubicBezTo>
                  <a:pt x="330795" y="375642"/>
                  <a:pt x="295573" y="349151"/>
                  <a:pt x="254099" y="349151"/>
                </a:cubicBezTo>
                <a:cubicBezTo>
                  <a:pt x="212626" y="349151"/>
                  <a:pt x="177304" y="375642"/>
                  <a:pt x="164306" y="412651"/>
                </a:cubicBezTo>
                <a:lnTo>
                  <a:pt x="85328" y="412651"/>
                </a:lnTo>
                <a:lnTo>
                  <a:pt x="10418" y="360759"/>
                </a:lnTo>
                <a:cubicBezTo>
                  <a:pt x="595" y="354211"/>
                  <a:pt x="-2778" y="341412"/>
                  <a:pt x="2381" y="330895"/>
                </a:cubicBezTo>
                <a:cubicBezTo>
                  <a:pt x="7541" y="320377"/>
                  <a:pt x="19645" y="315119"/>
                  <a:pt x="30857" y="318591"/>
                </a:cubicBezTo>
                <a:lnTo>
                  <a:pt x="127298" y="348754"/>
                </a:lnTo>
                <a:cubicBezTo>
                  <a:pt x="130274" y="344884"/>
                  <a:pt x="133350" y="341213"/>
                  <a:pt x="136624" y="337542"/>
                </a:cubicBezTo>
                <a:lnTo>
                  <a:pt x="74811" y="234454"/>
                </a:lnTo>
                <a:cubicBezTo>
                  <a:pt x="68759" y="224433"/>
                  <a:pt x="70941" y="211534"/>
                  <a:pt x="79871" y="203994"/>
                </a:cubicBezTo>
                <a:cubicBezTo>
                  <a:pt x="88801" y="196453"/>
                  <a:pt x="101898" y="196552"/>
                  <a:pt x="110728" y="204093"/>
                </a:cubicBezTo>
                <a:lnTo>
                  <a:pt x="212328" y="291306"/>
                </a:lnTo>
                <a:cubicBezTo>
                  <a:pt x="213816" y="290909"/>
                  <a:pt x="215305" y="290513"/>
                  <a:pt x="216793" y="290215"/>
                </a:cubicBezTo>
                <a:lnTo>
                  <a:pt x="230287" y="148630"/>
                </a:lnTo>
                <a:cubicBezTo>
                  <a:pt x="231477" y="136426"/>
                  <a:pt x="241697" y="127099"/>
                  <a:pt x="254000" y="127099"/>
                </a:cubicBezTo>
                <a:close/>
                <a:moveTo>
                  <a:pt x="31750" y="460375"/>
                </a:moveTo>
                <a:lnTo>
                  <a:pt x="484187" y="460375"/>
                </a:lnTo>
                <a:cubicBezTo>
                  <a:pt x="497384" y="460375"/>
                  <a:pt x="508000" y="470991"/>
                  <a:pt x="508000" y="484187"/>
                </a:cubicBezTo>
                <a:cubicBezTo>
                  <a:pt x="508000" y="497384"/>
                  <a:pt x="497384" y="508000"/>
                  <a:pt x="484187" y="508000"/>
                </a:cubicBezTo>
                <a:lnTo>
                  <a:pt x="23812" y="508000"/>
                </a:lnTo>
                <a:cubicBezTo>
                  <a:pt x="10616" y="508000"/>
                  <a:pt x="0" y="497384"/>
                  <a:pt x="0" y="484187"/>
                </a:cubicBezTo>
                <a:cubicBezTo>
                  <a:pt x="0" y="470991"/>
                  <a:pt x="10616" y="460375"/>
                  <a:pt x="23812" y="460375"/>
                </a:cubicBezTo>
                <a:lnTo>
                  <a:pt x="31750" y="460375"/>
                </a:ln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10" name="Text 8"/>
          <p:cNvSpPr/>
          <p:nvPr/>
        </p:nvSpPr>
        <p:spPr>
          <a:xfrm>
            <a:off x="8255000" y="3683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93000" y="4445000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damaging would it be?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928600" y="3302000"/>
            <a:ext cx="5334000" cy="2286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Shape 11"/>
          <p:cNvSpPr/>
          <p:nvPr/>
        </p:nvSpPr>
        <p:spPr>
          <a:xfrm>
            <a:off x="13366750" y="3683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31750" y="31750"/>
                </a:moveTo>
                <a:cubicBezTo>
                  <a:pt x="14188" y="31750"/>
                  <a:pt x="0" y="45938"/>
                  <a:pt x="0" y="63500"/>
                </a:cubicBezTo>
                <a:lnTo>
                  <a:pt x="0" y="158750"/>
                </a:lnTo>
                <a:cubicBezTo>
                  <a:pt x="0" y="176312"/>
                  <a:pt x="14188" y="190500"/>
                  <a:pt x="31750" y="190500"/>
                </a:cubicBezTo>
                <a:cubicBezTo>
                  <a:pt x="49312" y="190500"/>
                  <a:pt x="63500" y="176312"/>
                  <a:pt x="63500" y="158750"/>
                </a:cubicBezTo>
                <a:lnTo>
                  <a:pt x="63500" y="95250"/>
                </a:lnTo>
                <a:lnTo>
                  <a:pt x="127000" y="95250"/>
                </a:lnTo>
                <a:cubicBezTo>
                  <a:pt x="144562" y="95250"/>
                  <a:pt x="158750" y="81062"/>
                  <a:pt x="158750" y="63500"/>
                </a:cubicBezTo>
                <a:cubicBezTo>
                  <a:pt x="158750" y="45938"/>
                  <a:pt x="144562" y="31750"/>
                  <a:pt x="127000" y="31750"/>
                </a:cubicBezTo>
                <a:lnTo>
                  <a:pt x="31750" y="31750"/>
                </a:lnTo>
                <a:close/>
                <a:moveTo>
                  <a:pt x="63500" y="349250"/>
                </a:moveTo>
                <a:cubicBezTo>
                  <a:pt x="63500" y="331688"/>
                  <a:pt x="49312" y="317500"/>
                  <a:pt x="31750" y="317500"/>
                </a:cubicBezTo>
                <a:cubicBezTo>
                  <a:pt x="14188" y="317500"/>
                  <a:pt x="0" y="331688"/>
                  <a:pt x="0" y="349250"/>
                </a:cubicBezTo>
                <a:lnTo>
                  <a:pt x="0" y="444500"/>
                </a:lnTo>
                <a:cubicBezTo>
                  <a:pt x="0" y="462062"/>
                  <a:pt x="14188" y="476250"/>
                  <a:pt x="31750" y="476250"/>
                </a:cubicBezTo>
                <a:lnTo>
                  <a:pt x="127000" y="476250"/>
                </a:lnTo>
                <a:cubicBezTo>
                  <a:pt x="144562" y="476250"/>
                  <a:pt x="158750" y="462062"/>
                  <a:pt x="158750" y="444500"/>
                </a:cubicBezTo>
                <a:cubicBezTo>
                  <a:pt x="158750" y="426938"/>
                  <a:pt x="144562" y="412750"/>
                  <a:pt x="127000" y="412750"/>
                </a:cubicBezTo>
                <a:lnTo>
                  <a:pt x="63500" y="412750"/>
                </a:lnTo>
                <a:lnTo>
                  <a:pt x="63500" y="349250"/>
                </a:lnTo>
                <a:close/>
                <a:moveTo>
                  <a:pt x="317500" y="31750"/>
                </a:moveTo>
                <a:cubicBezTo>
                  <a:pt x="299938" y="31750"/>
                  <a:pt x="285750" y="45938"/>
                  <a:pt x="285750" y="63500"/>
                </a:cubicBezTo>
                <a:cubicBezTo>
                  <a:pt x="285750" y="81062"/>
                  <a:pt x="299938" y="95250"/>
                  <a:pt x="317500" y="95250"/>
                </a:cubicBezTo>
                <a:lnTo>
                  <a:pt x="381000" y="95250"/>
                </a:lnTo>
                <a:lnTo>
                  <a:pt x="381000" y="158750"/>
                </a:lnTo>
                <a:cubicBezTo>
                  <a:pt x="381000" y="176312"/>
                  <a:pt x="395188" y="190500"/>
                  <a:pt x="412750" y="190500"/>
                </a:cubicBezTo>
                <a:cubicBezTo>
                  <a:pt x="430312" y="190500"/>
                  <a:pt x="444500" y="176312"/>
                  <a:pt x="444500" y="158750"/>
                </a:cubicBezTo>
                <a:lnTo>
                  <a:pt x="444500" y="63500"/>
                </a:lnTo>
                <a:cubicBezTo>
                  <a:pt x="444500" y="45938"/>
                  <a:pt x="430312" y="31750"/>
                  <a:pt x="412750" y="31750"/>
                </a:cubicBezTo>
                <a:lnTo>
                  <a:pt x="317500" y="31750"/>
                </a:lnTo>
                <a:close/>
                <a:moveTo>
                  <a:pt x="444500" y="349250"/>
                </a:moveTo>
                <a:cubicBezTo>
                  <a:pt x="444500" y="331688"/>
                  <a:pt x="430312" y="317500"/>
                  <a:pt x="412750" y="317500"/>
                </a:cubicBezTo>
                <a:cubicBezTo>
                  <a:pt x="395188" y="317500"/>
                  <a:pt x="381000" y="331688"/>
                  <a:pt x="381000" y="349250"/>
                </a:cubicBezTo>
                <a:lnTo>
                  <a:pt x="381000" y="412750"/>
                </a:lnTo>
                <a:lnTo>
                  <a:pt x="317500" y="412750"/>
                </a:lnTo>
                <a:cubicBezTo>
                  <a:pt x="299938" y="412750"/>
                  <a:pt x="285750" y="426938"/>
                  <a:pt x="285750" y="444500"/>
                </a:cubicBezTo>
                <a:cubicBezTo>
                  <a:pt x="285750" y="462062"/>
                  <a:pt x="299938" y="476250"/>
                  <a:pt x="317500" y="476250"/>
                </a:cubicBezTo>
                <a:lnTo>
                  <a:pt x="412750" y="476250"/>
                </a:lnTo>
                <a:cubicBezTo>
                  <a:pt x="430312" y="476250"/>
                  <a:pt x="444500" y="462062"/>
                  <a:pt x="444500" y="444500"/>
                </a:cubicBezTo>
                <a:lnTo>
                  <a:pt x="444500" y="349250"/>
                </a:ln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14" name="Text 12"/>
          <p:cNvSpPr/>
          <p:nvPr/>
        </p:nvSpPr>
        <p:spPr>
          <a:xfrm>
            <a:off x="14097000" y="3683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Exposure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335000" y="4445000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wide is the blast radius?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8770600" y="3302000"/>
            <a:ext cx="5334000" cy="2286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Shape 15"/>
          <p:cNvSpPr/>
          <p:nvPr/>
        </p:nvSpPr>
        <p:spPr>
          <a:xfrm>
            <a:off x="19177000" y="3683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254000"/>
                </a:moveTo>
                <a:cubicBezTo>
                  <a:pt x="0" y="113814"/>
                  <a:pt x="113814" y="0"/>
                  <a:pt x="254000" y="0"/>
                </a:cubicBezTo>
                <a:cubicBezTo>
                  <a:pt x="394186" y="0"/>
                  <a:pt x="508000" y="113814"/>
                  <a:pt x="508000" y="254000"/>
                </a:cubicBezTo>
                <a:cubicBezTo>
                  <a:pt x="508000" y="394186"/>
                  <a:pt x="394186" y="508000"/>
                  <a:pt x="254000" y="508000"/>
                </a:cubicBezTo>
                <a:cubicBezTo>
                  <a:pt x="113814" y="508000"/>
                  <a:pt x="0" y="394186"/>
                  <a:pt x="0" y="254000"/>
                </a:cubicBezTo>
                <a:close/>
                <a:moveTo>
                  <a:pt x="285750" y="95250"/>
                </a:moveTo>
                <a:cubicBezTo>
                  <a:pt x="285750" y="77727"/>
                  <a:pt x="271523" y="63500"/>
                  <a:pt x="254000" y="63500"/>
                </a:cubicBezTo>
                <a:cubicBezTo>
                  <a:pt x="236477" y="63500"/>
                  <a:pt x="222250" y="77727"/>
                  <a:pt x="222250" y="95250"/>
                </a:cubicBezTo>
                <a:cubicBezTo>
                  <a:pt x="222250" y="112773"/>
                  <a:pt x="236477" y="127000"/>
                  <a:pt x="254000" y="127000"/>
                </a:cubicBezTo>
                <a:cubicBezTo>
                  <a:pt x="271523" y="127000"/>
                  <a:pt x="285750" y="112773"/>
                  <a:pt x="285750" y="95250"/>
                </a:cubicBezTo>
                <a:close/>
                <a:moveTo>
                  <a:pt x="254000" y="412750"/>
                </a:moveTo>
                <a:cubicBezTo>
                  <a:pt x="289024" y="412750"/>
                  <a:pt x="317500" y="384274"/>
                  <a:pt x="317500" y="349250"/>
                </a:cubicBezTo>
                <a:cubicBezTo>
                  <a:pt x="317500" y="333177"/>
                  <a:pt x="311547" y="318393"/>
                  <a:pt x="301625" y="307280"/>
                </a:cubicBezTo>
                <a:lnTo>
                  <a:pt x="370582" y="169466"/>
                </a:lnTo>
                <a:cubicBezTo>
                  <a:pt x="376436" y="157659"/>
                  <a:pt x="371673" y="143371"/>
                  <a:pt x="359966" y="137517"/>
                </a:cubicBezTo>
                <a:cubicBezTo>
                  <a:pt x="348258" y="131663"/>
                  <a:pt x="333871" y="136426"/>
                  <a:pt x="328017" y="148134"/>
                </a:cubicBezTo>
                <a:lnTo>
                  <a:pt x="259060" y="285948"/>
                </a:lnTo>
                <a:cubicBezTo>
                  <a:pt x="257373" y="285849"/>
                  <a:pt x="255687" y="285750"/>
                  <a:pt x="254000" y="285750"/>
                </a:cubicBezTo>
                <a:cubicBezTo>
                  <a:pt x="218976" y="285750"/>
                  <a:pt x="190500" y="314226"/>
                  <a:pt x="190500" y="349250"/>
                </a:cubicBezTo>
                <a:cubicBezTo>
                  <a:pt x="190500" y="384274"/>
                  <a:pt x="218976" y="412750"/>
                  <a:pt x="254000" y="412750"/>
                </a:cubicBezTo>
                <a:close/>
                <a:moveTo>
                  <a:pt x="174625" y="142875"/>
                </a:moveTo>
                <a:cubicBezTo>
                  <a:pt x="174625" y="125352"/>
                  <a:pt x="160398" y="111125"/>
                  <a:pt x="142875" y="111125"/>
                </a:cubicBezTo>
                <a:cubicBezTo>
                  <a:pt x="125352" y="111125"/>
                  <a:pt x="111125" y="125352"/>
                  <a:pt x="111125" y="142875"/>
                </a:cubicBezTo>
                <a:cubicBezTo>
                  <a:pt x="111125" y="160398"/>
                  <a:pt x="125352" y="174625"/>
                  <a:pt x="142875" y="174625"/>
                </a:cubicBezTo>
                <a:cubicBezTo>
                  <a:pt x="160398" y="174625"/>
                  <a:pt x="174625" y="160398"/>
                  <a:pt x="174625" y="142875"/>
                </a:cubicBezTo>
                <a:close/>
                <a:moveTo>
                  <a:pt x="95250" y="285750"/>
                </a:moveTo>
                <a:cubicBezTo>
                  <a:pt x="112773" y="285750"/>
                  <a:pt x="127000" y="271523"/>
                  <a:pt x="127000" y="254000"/>
                </a:cubicBezTo>
                <a:cubicBezTo>
                  <a:pt x="127000" y="236477"/>
                  <a:pt x="112773" y="222250"/>
                  <a:pt x="95250" y="222250"/>
                </a:cubicBezTo>
                <a:cubicBezTo>
                  <a:pt x="77727" y="222250"/>
                  <a:pt x="63500" y="236477"/>
                  <a:pt x="63500" y="254000"/>
                </a:cubicBezTo>
                <a:cubicBezTo>
                  <a:pt x="63500" y="271523"/>
                  <a:pt x="77727" y="285750"/>
                  <a:pt x="95250" y="285750"/>
                </a:cubicBezTo>
                <a:close/>
                <a:moveTo>
                  <a:pt x="444500" y="254000"/>
                </a:moveTo>
                <a:cubicBezTo>
                  <a:pt x="444500" y="236477"/>
                  <a:pt x="430273" y="222250"/>
                  <a:pt x="412750" y="222250"/>
                </a:cubicBezTo>
                <a:cubicBezTo>
                  <a:pt x="395227" y="222250"/>
                  <a:pt x="381000" y="236477"/>
                  <a:pt x="381000" y="254000"/>
                </a:cubicBezTo>
                <a:cubicBezTo>
                  <a:pt x="381000" y="271523"/>
                  <a:pt x="395227" y="285750"/>
                  <a:pt x="412750" y="285750"/>
                </a:cubicBezTo>
                <a:cubicBezTo>
                  <a:pt x="430273" y="285750"/>
                  <a:pt x="444500" y="271523"/>
                  <a:pt x="444500" y="254000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18" name="Text 16"/>
          <p:cNvSpPr/>
          <p:nvPr/>
        </p:nvSpPr>
        <p:spPr>
          <a:xfrm>
            <a:off x="19939000" y="3683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Velocity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9177000" y="4445000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fast is it escalating?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44600" y="62230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Each factor scored 0–100, combined into a single risk score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244600" y="7112000"/>
            <a:ext cx="22860000" cy="4826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2" name="Text 20"/>
          <p:cNvSpPr/>
          <p:nvPr/>
        </p:nvSpPr>
        <p:spPr>
          <a:xfrm>
            <a:off x="1651000" y="7366000"/>
            <a:ext cx="762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 — IAM Privilege Escalation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51000" y="8128000"/>
            <a:ext cx="381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51000" y="9017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Score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096000" y="8128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Likelihood: </a:t>
            </a:r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92</a:t>
            </a:r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| Impact: </a:t>
            </a:r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96</a:t>
            </a:r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| Exposure: </a:t>
            </a:r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88</a:t>
            </a:r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| Velocity: </a:t>
            </a:r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90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651000" y="9906000"/>
            <a:ext cx="2159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Recommendation:</a:t>
            </a:r>
            <a:pPr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Root-level IAM policy attached to non-admin user. Correlates with 3 prior failed MFA attempts. </a:t>
            </a:r>
            <a:pPr>
              <a:lnSpc>
                <a:spcPct val="150000"/>
              </a:lnSpc>
            </a:pPr>
            <a:r>
              <a:rPr lang="en-US" sz="2000" b="1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Immediate role revocation recommended.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651000" y="11557000"/>
            <a:ext cx="215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74C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 (85+)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Critical | 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F39C1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Amber (65+)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High | 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3498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Blue (45+)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Medium | 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2ECC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Green (0–44)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Low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016000"/>
            <a:ext cx="1143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Analyst Actions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44600" y="19685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2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decisions, every alert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44600" y="3556000"/>
            <a:ext cx="7112000" cy="5080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1651000" y="4064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317500" y="0"/>
                </a:moveTo>
                <a:cubicBezTo>
                  <a:pt x="323205" y="0"/>
                  <a:pt x="328910" y="1240"/>
                  <a:pt x="334119" y="3597"/>
                </a:cubicBezTo>
                <a:lnTo>
                  <a:pt x="567779" y="102691"/>
                </a:lnTo>
                <a:cubicBezTo>
                  <a:pt x="595064" y="114226"/>
                  <a:pt x="615404" y="141139"/>
                  <a:pt x="615280" y="173633"/>
                </a:cubicBezTo>
                <a:cubicBezTo>
                  <a:pt x="614660" y="296664"/>
                  <a:pt x="564059" y="521767"/>
                  <a:pt x="350366" y="624086"/>
                </a:cubicBezTo>
                <a:cubicBezTo>
                  <a:pt x="329654" y="634008"/>
                  <a:pt x="305594" y="634008"/>
                  <a:pt x="284882" y="624086"/>
                </a:cubicBezTo>
                <a:cubicBezTo>
                  <a:pt x="71065" y="521767"/>
                  <a:pt x="20588" y="296664"/>
                  <a:pt x="19968" y="173633"/>
                </a:cubicBezTo>
                <a:cubicBezTo>
                  <a:pt x="19844" y="141139"/>
                  <a:pt x="40184" y="114226"/>
                  <a:pt x="67469" y="102691"/>
                </a:cubicBezTo>
                <a:lnTo>
                  <a:pt x="301005" y="3597"/>
                </a:lnTo>
                <a:cubicBezTo>
                  <a:pt x="306214" y="1240"/>
                  <a:pt x="311795" y="0"/>
                  <a:pt x="317500" y="0"/>
                </a:cubicBezTo>
                <a:close/>
                <a:moveTo>
                  <a:pt x="317500" y="82848"/>
                </a:moveTo>
                <a:lnTo>
                  <a:pt x="317500" y="551780"/>
                </a:lnTo>
                <a:cubicBezTo>
                  <a:pt x="488652" y="468933"/>
                  <a:pt x="534665" y="285378"/>
                  <a:pt x="535781" y="175493"/>
                </a:cubicBezTo>
                <a:lnTo>
                  <a:pt x="317500" y="82972"/>
                </a:lnTo>
                <a:lnTo>
                  <a:pt x="317500" y="82972"/>
                </a:ln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6" name="Text 4"/>
          <p:cNvSpPr/>
          <p:nvPr/>
        </p:nvSpPr>
        <p:spPr>
          <a:xfrm>
            <a:off x="1651000" y="5080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Primary Action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51000" y="5842000"/>
            <a:ext cx="635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Context-specific per threat type: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Revoke IAM Role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pPr>
              <a:lnSpc>
                <a:spcPct val="150000"/>
              </a:lnSpc>
            </a:pPr>
            <a:r>
              <a:rPr lang="en-US" sz="20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Block &amp; Isolate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pPr>
              <a:lnSpc>
                <a:spcPct val="150000"/>
              </a:lnSpc>
            </a:pPr>
            <a:r>
              <a:rPr lang="en-US" sz="20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Terminate Instance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pPr>
              <a:lnSpc>
                <a:spcPct val="150000"/>
              </a:lnSpc>
            </a:pPr>
            <a:r>
              <a:rPr lang="en-US" sz="20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Re-enable &amp; Audit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864600" y="3556000"/>
            <a:ext cx="7112000" cy="5080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Shape 7"/>
          <p:cNvSpPr/>
          <p:nvPr/>
        </p:nvSpPr>
        <p:spPr>
          <a:xfrm>
            <a:off x="9231313" y="4064000"/>
            <a:ext cx="714375" cy="635000"/>
          </a:xfrm>
          <a:custGeom>
            <a:avLst/>
            <a:gdLst/>
            <a:ahLst/>
            <a:cxnLst/>
            <a:rect l="l" t="t" r="r" b="b"/>
            <a:pathLst>
              <a:path w="714375" h="635000">
                <a:moveTo>
                  <a:pt x="277813" y="307578"/>
                </a:moveTo>
                <a:cubicBezTo>
                  <a:pt x="359953" y="307578"/>
                  <a:pt x="426641" y="240890"/>
                  <a:pt x="426641" y="158750"/>
                </a:cubicBezTo>
                <a:cubicBezTo>
                  <a:pt x="426641" y="76610"/>
                  <a:pt x="359953" y="9922"/>
                  <a:pt x="277813" y="9922"/>
                </a:cubicBezTo>
                <a:cubicBezTo>
                  <a:pt x="195672" y="9922"/>
                  <a:pt x="128984" y="76610"/>
                  <a:pt x="128984" y="158750"/>
                </a:cubicBezTo>
                <a:cubicBezTo>
                  <a:pt x="128984" y="240890"/>
                  <a:pt x="195672" y="307578"/>
                  <a:pt x="277813" y="307578"/>
                </a:cubicBezTo>
                <a:close/>
                <a:moveTo>
                  <a:pt x="240978" y="377031"/>
                </a:moveTo>
                <a:cubicBezTo>
                  <a:pt x="118814" y="377031"/>
                  <a:pt x="19844" y="476002"/>
                  <a:pt x="19844" y="598165"/>
                </a:cubicBezTo>
                <a:cubicBezTo>
                  <a:pt x="19844" y="618505"/>
                  <a:pt x="36339" y="635000"/>
                  <a:pt x="56679" y="635000"/>
                </a:cubicBezTo>
                <a:lnTo>
                  <a:pt x="368598" y="635000"/>
                </a:lnTo>
                <a:cubicBezTo>
                  <a:pt x="323701" y="582166"/>
                  <a:pt x="297656" y="514077"/>
                  <a:pt x="297656" y="442020"/>
                </a:cubicBezTo>
                <a:lnTo>
                  <a:pt x="297656" y="403448"/>
                </a:lnTo>
                <a:cubicBezTo>
                  <a:pt x="297656" y="394395"/>
                  <a:pt x="298896" y="385465"/>
                  <a:pt x="301253" y="377031"/>
                </a:cubicBezTo>
                <a:lnTo>
                  <a:pt x="240978" y="377031"/>
                </a:lnTo>
                <a:close/>
                <a:moveTo>
                  <a:pt x="552276" y="605854"/>
                </a:moveTo>
                <a:lnTo>
                  <a:pt x="535781" y="613668"/>
                </a:lnTo>
                <a:lnTo>
                  <a:pt x="535781" y="380380"/>
                </a:lnTo>
                <a:lnTo>
                  <a:pt x="654844" y="420067"/>
                </a:lnTo>
                <a:lnTo>
                  <a:pt x="654844" y="444376"/>
                </a:lnTo>
                <a:cubicBezTo>
                  <a:pt x="654844" y="513581"/>
                  <a:pt x="614908" y="576461"/>
                  <a:pt x="552276" y="605979"/>
                </a:cubicBezTo>
                <a:close/>
                <a:moveTo>
                  <a:pt x="523255" y="321841"/>
                </a:moveTo>
                <a:lnTo>
                  <a:pt x="384349" y="368102"/>
                </a:lnTo>
                <a:cubicBezTo>
                  <a:pt x="368102" y="373559"/>
                  <a:pt x="357188" y="388689"/>
                  <a:pt x="357188" y="405805"/>
                </a:cubicBezTo>
                <a:lnTo>
                  <a:pt x="357188" y="444376"/>
                </a:lnTo>
                <a:cubicBezTo>
                  <a:pt x="357188" y="536649"/>
                  <a:pt x="410518" y="620613"/>
                  <a:pt x="493861" y="659805"/>
                </a:cubicBezTo>
                <a:lnTo>
                  <a:pt x="516806" y="670595"/>
                </a:lnTo>
                <a:cubicBezTo>
                  <a:pt x="522759" y="673323"/>
                  <a:pt x="529208" y="674812"/>
                  <a:pt x="535657" y="674812"/>
                </a:cubicBezTo>
                <a:cubicBezTo>
                  <a:pt x="542106" y="674812"/>
                  <a:pt x="548680" y="673323"/>
                  <a:pt x="554509" y="670595"/>
                </a:cubicBezTo>
                <a:lnTo>
                  <a:pt x="577453" y="659805"/>
                </a:lnTo>
                <a:cubicBezTo>
                  <a:pt x="661045" y="620489"/>
                  <a:pt x="714375" y="536525"/>
                  <a:pt x="714375" y="444252"/>
                </a:cubicBezTo>
                <a:lnTo>
                  <a:pt x="714375" y="405681"/>
                </a:lnTo>
                <a:cubicBezTo>
                  <a:pt x="714375" y="388565"/>
                  <a:pt x="703461" y="373435"/>
                  <a:pt x="687214" y="367978"/>
                </a:cubicBezTo>
                <a:lnTo>
                  <a:pt x="548308" y="321717"/>
                </a:lnTo>
                <a:cubicBezTo>
                  <a:pt x="540122" y="318988"/>
                  <a:pt x="531316" y="318988"/>
                  <a:pt x="523255" y="321717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10" name="Text 8"/>
          <p:cNvSpPr/>
          <p:nvPr/>
        </p:nvSpPr>
        <p:spPr>
          <a:xfrm>
            <a:off x="9271000" y="5080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Assign to Analyst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271000" y="5842000"/>
            <a:ext cx="635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Escalate to human for deeper investigation when the AI identifies complex or novel threats requiring expert judgment.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6484600" y="3556000"/>
            <a:ext cx="7112000" cy="5080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Shape 11"/>
          <p:cNvSpPr/>
          <p:nvPr/>
        </p:nvSpPr>
        <p:spPr>
          <a:xfrm>
            <a:off x="16970375" y="4064000"/>
            <a:ext cx="476250" cy="635000"/>
          </a:xfrm>
          <a:custGeom>
            <a:avLst/>
            <a:gdLst/>
            <a:ahLst/>
            <a:cxnLst/>
            <a:rect l="l" t="t" r="r" b="b"/>
            <a:pathLst>
              <a:path w="476250" h="635000">
                <a:moveTo>
                  <a:pt x="309935" y="82848"/>
                </a:moveTo>
                <a:cubicBezTo>
                  <a:pt x="322833" y="65112"/>
                  <a:pt x="318864" y="40308"/>
                  <a:pt x="301129" y="27409"/>
                </a:cubicBezTo>
                <a:cubicBezTo>
                  <a:pt x="283394" y="14511"/>
                  <a:pt x="258589" y="18479"/>
                  <a:pt x="245690" y="36215"/>
                </a:cubicBezTo>
                <a:lnTo>
                  <a:pt x="114226" y="216917"/>
                </a:lnTo>
                <a:lnTo>
                  <a:pt x="67717" y="170408"/>
                </a:lnTo>
                <a:cubicBezTo>
                  <a:pt x="52214" y="154905"/>
                  <a:pt x="27037" y="154905"/>
                  <a:pt x="11534" y="170408"/>
                </a:cubicBezTo>
                <a:cubicBezTo>
                  <a:pt x="-3969" y="185911"/>
                  <a:pt x="-3969" y="211088"/>
                  <a:pt x="11534" y="226591"/>
                </a:cubicBezTo>
                <a:lnTo>
                  <a:pt x="90909" y="305966"/>
                </a:lnTo>
                <a:cubicBezTo>
                  <a:pt x="99095" y="314151"/>
                  <a:pt x="110505" y="318368"/>
                  <a:pt x="122039" y="317500"/>
                </a:cubicBezTo>
                <a:cubicBezTo>
                  <a:pt x="133573" y="316632"/>
                  <a:pt x="144239" y="310679"/>
                  <a:pt x="151061" y="301253"/>
                </a:cubicBezTo>
                <a:lnTo>
                  <a:pt x="309811" y="82972"/>
                </a:lnTo>
                <a:close/>
                <a:moveTo>
                  <a:pt x="468685" y="251520"/>
                </a:moveTo>
                <a:cubicBezTo>
                  <a:pt x="481583" y="233784"/>
                  <a:pt x="477614" y="208979"/>
                  <a:pt x="459879" y="196081"/>
                </a:cubicBezTo>
                <a:cubicBezTo>
                  <a:pt x="442144" y="183183"/>
                  <a:pt x="417339" y="187151"/>
                  <a:pt x="404440" y="204887"/>
                </a:cubicBezTo>
                <a:lnTo>
                  <a:pt x="193601" y="494729"/>
                </a:lnTo>
                <a:lnTo>
                  <a:pt x="107404" y="408533"/>
                </a:lnTo>
                <a:cubicBezTo>
                  <a:pt x="91901" y="393030"/>
                  <a:pt x="66725" y="393030"/>
                  <a:pt x="51222" y="408533"/>
                </a:cubicBezTo>
                <a:cubicBezTo>
                  <a:pt x="35719" y="424036"/>
                  <a:pt x="35719" y="449213"/>
                  <a:pt x="51222" y="464716"/>
                </a:cubicBezTo>
                <a:lnTo>
                  <a:pt x="170284" y="583778"/>
                </a:lnTo>
                <a:cubicBezTo>
                  <a:pt x="178470" y="591964"/>
                  <a:pt x="189880" y="596181"/>
                  <a:pt x="201414" y="595313"/>
                </a:cubicBezTo>
                <a:cubicBezTo>
                  <a:pt x="212948" y="594444"/>
                  <a:pt x="223614" y="588491"/>
                  <a:pt x="230436" y="579065"/>
                </a:cubicBezTo>
                <a:lnTo>
                  <a:pt x="468561" y="251644"/>
                </a:ln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14" name="Text 12"/>
          <p:cNvSpPr/>
          <p:nvPr/>
        </p:nvSpPr>
        <p:spPr>
          <a:xfrm>
            <a:off x="16891000" y="5080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Dismiss as False Positive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891000" y="5842000"/>
            <a:ext cx="635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Feeds back into the AI model to improve future scoring accuracy. Every dismissal makes the model smarter.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44600" y="9398000"/>
            <a:ext cx="5080000" cy="381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17" name="Text 15"/>
          <p:cNvSpPr/>
          <p:nvPr/>
        </p:nvSpPr>
        <p:spPr>
          <a:xfrm>
            <a:off x="1244600" y="9779000"/>
            <a:ext cx="152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mirrors how a real SOC feedback loop works — </a:t>
            </a:r>
            <a:pPr>
              <a:lnSpc>
                <a:spcPct val="100000"/>
              </a:lnSpc>
            </a:pPr>
            <a:r>
              <a:rPr lang="en-US" sz="2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every dismissal makes the model smarter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016000"/>
            <a:ext cx="1524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Threat Intelligence Charts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44600" y="19685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2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Situational awareness at a glance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244600" y="3302000"/>
          <a:ext cx="6350000" cy="5715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8128000" y="3302000"/>
          <a:ext cx="15240000" cy="5715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1244600" y="9525000"/>
            <a:ext cx="215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24-Hour Alert Volume:</a:t>
            </a:r>
            <a:pPr>
              <a:lnSpc>
                <a:spcPct val="150000"/>
              </a:lnSpc>
            </a:pPr>
            <a:r>
              <a:rPr lang="en-US" sz="20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Dual-series bar chart reveals attack timing patterns — quiet overnight, spikes during business hours.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7-Day Severity Trend:</a:t>
            </a:r>
            <a:pPr>
              <a:lnSpc>
                <a:spcPct val="150000"/>
              </a:lnSpc>
            </a:pPr>
            <a:r>
              <a:rPr lang="en-US" sz="20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Line chart tracking Critical, High, and Medium alert volumes day by day — spotting sustained campaigns vs one-off spikes.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016000"/>
            <a:ext cx="1524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AWS Services Covered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44600" y="19685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2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Built on real AWS security tooling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44600" y="3302000"/>
            <a:ext cx="4318000" cy="3556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1651000" y="3810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12750" y="206375"/>
                </a:moveTo>
                <a:cubicBezTo>
                  <a:pt x="412750" y="251916"/>
                  <a:pt x="397966" y="293985"/>
                  <a:pt x="373063" y="328116"/>
                </a:cubicBezTo>
                <a:lnTo>
                  <a:pt x="498673" y="453827"/>
                </a:lnTo>
                <a:cubicBezTo>
                  <a:pt x="511076" y="466229"/>
                  <a:pt x="511076" y="486370"/>
                  <a:pt x="498673" y="498773"/>
                </a:cubicBezTo>
                <a:cubicBezTo>
                  <a:pt x="486271" y="511175"/>
                  <a:pt x="466130" y="511175"/>
                  <a:pt x="453727" y="498773"/>
                </a:cubicBezTo>
                <a:lnTo>
                  <a:pt x="328116" y="373063"/>
                </a:lnTo>
                <a:cubicBezTo>
                  <a:pt x="293985" y="397966"/>
                  <a:pt x="251916" y="412750"/>
                  <a:pt x="206375" y="412750"/>
                </a:cubicBezTo>
                <a:cubicBezTo>
                  <a:pt x="92373" y="412750"/>
                  <a:pt x="0" y="320377"/>
                  <a:pt x="0" y="206375"/>
                </a:cubicBezTo>
                <a:cubicBezTo>
                  <a:pt x="0" y="92373"/>
                  <a:pt x="92373" y="0"/>
                  <a:pt x="206375" y="0"/>
                </a:cubicBezTo>
                <a:cubicBezTo>
                  <a:pt x="320377" y="0"/>
                  <a:pt x="412750" y="92373"/>
                  <a:pt x="412750" y="206375"/>
                </a:cubicBezTo>
                <a:close/>
                <a:moveTo>
                  <a:pt x="206375" y="349250"/>
                </a:moveTo>
                <a:cubicBezTo>
                  <a:pt x="285230" y="349250"/>
                  <a:pt x="349250" y="285230"/>
                  <a:pt x="349250" y="206375"/>
                </a:cubicBezTo>
                <a:cubicBezTo>
                  <a:pt x="349250" y="127520"/>
                  <a:pt x="285230" y="63500"/>
                  <a:pt x="206375" y="63500"/>
                </a:cubicBezTo>
                <a:cubicBezTo>
                  <a:pt x="127520" y="63500"/>
                  <a:pt x="63500" y="127520"/>
                  <a:pt x="63500" y="206375"/>
                </a:cubicBezTo>
                <a:cubicBezTo>
                  <a:pt x="63500" y="285230"/>
                  <a:pt x="127520" y="349250"/>
                  <a:pt x="206375" y="349250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6" name="Text 4"/>
          <p:cNvSpPr/>
          <p:nvPr/>
        </p:nvSpPr>
        <p:spPr>
          <a:xfrm>
            <a:off x="1651000" y="4572000"/>
            <a:ext cx="355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GuardDuty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51000" y="5207000"/>
            <a:ext cx="355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Behavioral threat detection — cryptomining, port scans, exfiltration patterns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0" y="3302000"/>
            <a:ext cx="4318000" cy="3556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Shape 7"/>
          <p:cNvSpPr/>
          <p:nvPr/>
        </p:nvSpPr>
        <p:spPr>
          <a:xfrm>
            <a:off x="6413500" y="3810000"/>
            <a:ext cx="381000" cy="508000"/>
          </a:xfrm>
          <a:custGeom>
            <a:avLst/>
            <a:gdLst/>
            <a:ahLst/>
            <a:cxnLst/>
            <a:rect l="l" t="t" r="r" b="b"/>
            <a:pathLst>
              <a:path w="381000" h="508000">
                <a:moveTo>
                  <a:pt x="0" y="63500"/>
                </a:moveTo>
                <a:cubicBezTo>
                  <a:pt x="0" y="28476"/>
                  <a:pt x="28476" y="0"/>
                  <a:pt x="63500" y="0"/>
                </a:cubicBezTo>
                <a:lnTo>
                  <a:pt x="211832" y="0"/>
                </a:lnTo>
                <a:cubicBezTo>
                  <a:pt x="228699" y="0"/>
                  <a:pt x="244872" y="6648"/>
                  <a:pt x="256778" y="18554"/>
                </a:cubicBezTo>
                <a:lnTo>
                  <a:pt x="362446" y="124321"/>
                </a:lnTo>
                <a:cubicBezTo>
                  <a:pt x="374352" y="136227"/>
                  <a:pt x="381000" y="152400"/>
                  <a:pt x="381000" y="169267"/>
                </a:cubicBezTo>
                <a:lnTo>
                  <a:pt x="381000" y="444500"/>
                </a:lnTo>
                <a:cubicBezTo>
                  <a:pt x="381000" y="479524"/>
                  <a:pt x="352524" y="508000"/>
                  <a:pt x="317500" y="508000"/>
                </a:cubicBezTo>
                <a:lnTo>
                  <a:pt x="63500" y="508000"/>
                </a:lnTo>
                <a:cubicBezTo>
                  <a:pt x="28476" y="508000"/>
                  <a:pt x="0" y="479524"/>
                  <a:pt x="0" y="444500"/>
                </a:cubicBezTo>
                <a:lnTo>
                  <a:pt x="0" y="63500"/>
                </a:lnTo>
                <a:close/>
                <a:moveTo>
                  <a:pt x="206375" y="58043"/>
                </a:moveTo>
                <a:lnTo>
                  <a:pt x="206375" y="150813"/>
                </a:lnTo>
                <a:cubicBezTo>
                  <a:pt x="206375" y="164009"/>
                  <a:pt x="216991" y="174625"/>
                  <a:pt x="230188" y="174625"/>
                </a:cubicBezTo>
                <a:lnTo>
                  <a:pt x="322957" y="174625"/>
                </a:lnTo>
                <a:lnTo>
                  <a:pt x="206375" y="58043"/>
                </a:lnTo>
                <a:close/>
                <a:moveTo>
                  <a:pt x="119063" y="254000"/>
                </a:moveTo>
                <a:cubicBezTo>
                  <a:pt x="105866" y="254000"/>
                  <a:pt x="95250" y="264616"/>
                  <a:pt x="95250" y="277813"/>
                </a:cubicBezTo>
                <a:cubicBezTo>
                  <a:pt x="95250" y="291009"/>
                  <a:pt x="105866" y="301625"/>
                  <a:pt x="119063" y="301625"/>
                </a:cubicBezTo>
                <a:lnTo>
                  <a:pt x="261937" y="301625"/>
                </a:lnTo>
                <a:cubicBezTo>
                  <a:pt x="275134" y="301625"/>
                  <a:pt x="285750" y="291009"/>
                  <a:pt x="285750" y="277813"/>
                </a:cubicBezTo>
                <a:cubicBezTo>
                  <a:pt x="285750" y="264616"/>
                  <a:pt x="275134" y="254000"/>
                  <a:pt x="261937" y="254000"/>
                </a:cubicBezTo>
                <a:lnTo>
                  <a:pt x="119063" y="254000"/>
                </a:lnTo>
                <a:close/>
                <a:moveTo>
                  <a:pt x="119063" y="349250"/>
                </a:moveTo>
                <a:cubicBezTo>
                  <a:pt x="105866" y="349250"/>
                  <a:pt x="95250" y="359866"/>
                  <a:pt x="95250" y="373063"/>
                </a:cubicBezTo>
                <a:cubicBezTo>
                  <a:pt x="95250" y="386259"/>
                  <a:pt x="105866" y="396875"/>
                  <a:pt x="119063" y="396875"/>
                </a:cubicBezTo>
                <a:lnTo>
                  <a:pt x="261937" y="396875"/>
                </a:lnTo>
                <a:cubicBezTo>
                  <a:pt x="275134" y="396875"/>
                  <a:pt x="285750" y="386259"/>
                  <a:pt x="285750" y="373063"/>
                </a:cubicBezTo>
                <a:cubicBezTo>
                  <a:pt x="285750" y="359866"/>
                  <a:pt x="275134" y="349250"/>
                  <a:pt x="261937" y="349250"/>
                </a:cubicBezTo>
                <a:lnTo>
                  <a:pt x="119063" y="349250"/>
                </a:ln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10" name="Text 8"/>
          <p:cNvSpPr/>
          <p:nvPr/>
        </p:nvSpPr>
        <p:spPr>
          <a:xfrm>
            <a:off x="6350000" y="4572000"/>
            <a:ext cx="355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CloudTrail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50000" y="5207000"/>
            <a:ext cx="355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audit logging — IAM escalation, root login, logging disabled events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642600" y="3302000"/>
            <a:ext cx="4318000" cy="3556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49000" y="3810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1750" y="63500"/>
                </a:moveTo>
                <a:cubicBezTo>
                  <a:pt x="14188" y="63500"/>
                  <a:pt x="0" y="77688"/>
                  <a:pt x="0" y="95250"/>
                </a:cubicBezTo>
                <a:cubicBezTo>
                  <a:pt x="0" y="112812"/>
                  <a:pt x="14188" y="127000"/>
                  <a:pt x="31750" y="127000"/>
                </a:cubicBezTo>
                <a:lnTo>
                  <a:pt x="117773" y="127000"/>
                </a:lnTo>
                <a:cubicBezTo>
                  <a:pt x="129977" y="155079"/>
                  <a:pt x="157956" y="174625"/>
                  <a:pt x="190500" y="174625"/>
                </a:cubicBezTo>
                <a:cubicBezTo>
                  <a:pt x="223044" y="174625"/>
                  <a:pt x="251023" y="155079"/>
                  <a:pt x="263227" y="127000"/>
                </a:cubicBezTo>
                <a:lnTo>
                  <a:pt x="476250" y="127000"/>
                </a:lnTo>
                <a:cubicBezTo>
                  <a:pt x="493812" y="127000"/>
                  <a:pt x="508000" y="112812"/>
                  <a:pt x="508000" y="95250"/>
                </a:cubicBezTo>
                <a:cubicBezTo>
                  <a:pt x="508000" y="77688"/>
                  <a:pt x="493812" y="63500"/>
                  <a:pt x="476250" y="63500"/>
                </a:cubicBezTo>
                <a:lnTo>
                  <a:pt x="263227" y="63500"/>
                </a:lnTo>
                <a:cubicBezTo>
                  <a:pt x="251023" y="35421"/>
                  <a:pt x="223044" y="15875"/>
                  <a:pt x="190500" y="15875"/>
                </a:cubicBezTo>
                <a:cubicBezTo>
                  <a:pt x="157956" y="15875"/>
                  <a:pt x="129977" y="35421"/>
                  <a:pt x="117773" y="63500"/>
                </a:cubicBezTo>
                <a:lnTo>
                  <a:pt x="31750" y="63500"/>
                </a:lnTo>
                <a:close/>
                <a:moveTo>
                  <a:pt x="31750" y="222250"/>
                </a:moveTo>
                <a:cubicBezTo>
                  <a:pt x="14188" y="222250"/>
                  <a:pt x="0" y="236438"/>
                  <a:pt x="0" y="254000"/>
                </a:cubicBezTo>
                <a:cubicBezTo>
                  <a:pt x="0" y="271562"/>
                  <a:pt x="14188" y="285750"/>
                  <a:pt x="31750" y="285750"/>
                </a:cubicBezTo>
                <a:lnTo>
                  <a:pt x="276523" y="285750"/>
                </a:lnTo>
                <a:cubicBezTo>
                  <a:pt x="288727" y="313829"/>
                  <a:pt x="316706" y="333375"/>
                  <a:pt x="349250" y="333375"/>
                </a:cubicBezTo>
                <a:cubicBezTo>
                  <a:pt x="381794" y="333375"/>
                  <a:pt x="409773" y="313829"/>
                  <a:pt x="421977" y="285750"/>
                </a:cubicBezTo>
                <a:lnTo>
                  <a:pt x="476250" y="285750"/>
                </a:lnTo>
                <a:cubicBezTo>
                  <a:pt x="493812" y="285750"/>
                  <a:pt x="508000" y="271562"/>
                  <a:pt x="508000" y="254000"/>
                </a:cubicBezTo>
                <a:cubicBezTo>
                  <a:pt x="508000" y="236438"/>
                  <a:pt x="493812" y="222250"/>
                  <a:pt x="476250" y="222250"/>
                </a:cubicBezTo>
                <a:lnTo>
                  <a:pt x="421977" y="222250"/>
                </a:lnTo>
                <a:cubicBezTo>
                  <a:pt x="409773" y="194171"/>
                  <a:pt x="381794" y="174625"/>
                  <a:pt x="349250" y="174625"/>
                </a:cubicBezTo>
                <a:cubicBezTo>
                  <a:pt x="316706" y="174625"/>
                  <a:pt x="288727" y="194171"/>
                  <a:pt x="276523" y="222250"/>
                </a:cubicBezTo>
                <a:lnTo>
                  <a:pt x="31750" y="222250"/>
                </a:lnTo>
                <a:close/>
                <a:moveTo>
                  <a:pt x="31750" y="381000"/>
                </a:moveTo>
                <a:cubicBezTo>
                  <a:pt x="14188" y="381000"/>
                  <a:pt x="0" y="395188"/>
                  <a:pt x="0" y="412750"/>
                </a:cubicBezTo>
                <a:cubicBezTo>
                  <a:pt x="0" y="430312"/>
                  <a:pt x="14188" y="444500"/>
                  <a:pt x="31750" y="444500"/>
                </a:cubicBezTo>
                <a:lnTo>
                  <a:pt x="86023" y="444500"/>
                </a:lnTo>
                <a:cubicBezTo>
                  <a:pt x="98227" y="472579"/>
                  <a:pt x="126206" y="492125"/>
                  <a:pt x="158750" y="492125"/>
                </a:cubicBezTo>
                <a:cubicBezTo>
                  <a:pt x="191294" y="492125"/>
                  <a:pt x="219273" y="472579"/>
                  <a:pt x="231477" y="444500"/>
                </a:cubicBezTo>
                <a:lnTo>
                  <a:pt x="476250" y="444500"/>
                </a:lnTo>
                <a:cubicBezTo>
                  <a:pt x="493812" y="444500"/>
                  <a:pt x="508000" y="430312"/>
                  <a:pt x="508000" y="412750"/>
                </a:cubicBezTo>
                <a:cubicBezTo>
                  <a:pt x="508000" y="395188"/>
                  <a:pt x="493812" y="381000"/>
                  <a:pt x="476250" y="381000"/>
                </a:cubicBezTo>
                <a:lnTo>
                  <a:pt x="231477" y="381000"/>
                </a:lnTo>
                <a:cubicBezTo>
                  <a:pt x="219273" y="352921"/>
                  <a:pt x="191294" y="333375"/>
                  <a:pt x="158750" y="333375"/>
                </a:cubicBezTo>
                <a:cubicBezTo>
                  <a:pt x="126206" y="333375"/>
                  <a:pt x="98227" y="352921"/>
                  <a:pt x="86023" y="381000"/>
                </a:cubicBezTo>
                <a:lnTo>
                  <a:pt x="31750" y="381000"/>
                </a:ln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14" name="Text 12"/>
          <p:cNvSpPr/>
          <p:nvPr/>
        </p:nvSpPr>
        <p:spPr>
          <a:xfrm>
            <a:off x="11049000" y="4572000"/>
            <a:ext cx="355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049000" y="5207000"/>
            <a:ext cx="355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Configuration compliance — security group drift, open ports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5341600" y="3302000"/>
            <a:ext cx="4318000" cy="3556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Shape 15"/>
          <p:cNvSpPr/>
          <p:nvPr/>
        </p:nvSpPr>
        <p:spPr>
          <a:xfrm>
            <a:off x="15716250" y="3810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246063" y="87313"/>
                </a:moveTo>
                <a:lnTo>
                  <a:pt x="325438" y="87313"/>
                </a:lnTo>
                <a:lnTo>
                  <a:pt x="325438" y="134938"/>
                </a:lnTo>
                <a:lnTo>
                  <a:pt x="246063" y="134938"/>
                </a:lnTo>
                <a:lnTo>
                  <a:pt x="246063" y="87313"/>
                </a:lnTo>
                <a:close/>
                <a:moveTo>
                  <a:pt x="238125" y="31750"/>
                </a:moveTo>
                <a:cubicBezTo>
                  <a:pt x="211832" y="31750"/>
                  <a:pt x="190500" y="53082"/>
                  <a:pt x="190500" y="79375"/>
                </a:cubicBezTo>
                <a:lnTo>
                  <a:pt x="190500" y="142875"/>
                </a:lnTo>
                <a:cubicBezTo>
                  <a:pt x="190500" y="169168"/>
                  <a:pt x="211832" y="190500"/>
                  <a:pt x="238125" y="190500"/>
                </a:cubicBezTo>
                <a:lnTo>
                  <a:pt x="254000" y="190500"/>
                </a:lnTo>
                <a:lnTo>
                  <a:pt x="254000" y="222250"/>
                </a:lnTo>
                <a:lnTo>
                  <a:pt x="31750" y="222250"/>
                </a:lnTo>
                <a:cubicBezTo>
                  <a:pt x="14188" y="222250"/>
                  <a:pt x="0" y="236438"/>
                  <a:pt x="0" y="254000"/>
                </a:cubicBezTo>
                <a:cubicBezTo>
                  <a:pt x="0" y="271562"/>
                  <a:pt x="14188" y="285750"/>
                  <a:pt x="31750" y="285750"/>
                </a:cubicBezTo>
                <a:lnTo>
                  <a:pt x="127000" y="285750"/>
                </a:lnTo>
                <a:lnTo>
                  <a:pt x="127000" y="317500"/>
                </a:lnTo>
                <a:lnTo>
                  <a:pt x="111125" y="317500"/>
                </a:lnTo>
                <a:cubicBezTo>
                  <a:pt x="84832" y="317500"/>
                  <a:pt x="63500" y="338832"/>
                  <a:pt x="63500" y="365125"/>
                </a:cubicBezTo>
                <a:lnTo>
                  <a:pt x="63500" y="428625"/>
                </a:lnTo>
                <a:cubicBezTo>
                  <a:pt x="63500" y="454918"/>
                  <a:pt x="84832" y="476250"/>
                  <a:pt x="111125" y="476250"/>
                </a:cubicBezTo>
                <a:lnTo>
                  <a:pt x="206375" y="476250"/>
                </a:lnTo>
                <a:cubicBezTo>
                  <a:pt x="232668" y="476250"/>
                  <a:pt x="254000" y="454918"/>
                  <a:pt x="254000" y="428625"/>
                </a:cubicBezTo>
                <a:lnTo>
                  <a:pt x="254000" y="365125"/>
                </a:lnTo>
                <a:cubicBezTo>
                  <a:pt x="254000" y="338832"/>
                  <a:pt x="232668" y="317500"/>
                  <a:pt x="206375" y="317500"/>
                </a:cubicBezTo>
                <a:lnTo>
                  <a:pt x="190500" y="317500"/>
                </a:lnTo>
                <a:lnTo>
                  <a:pt x="190500" y="285750"/>
                </a:lnTo>
                <a:lnTo>
                  <a:pt x="381000" y="285750"/>
                </a:lnTo>
                <a:lnTo>
                  <a:pt x="381000" y="317500"/>
                </a:lnTo>
                <a:lnTo>
                  <a:pt x="365125" y="317500"/>
                </a:lnTo>
                <a:cubicBezTo>
                  <a:pt x="338832" y="317500"/>
                  <a:pt x="317500" y="338832"/>
                  <a:pt x="317500" y="365125"/>
                </a:cubicBezTo>
                <a:lnTo>
                  <a:pt x="317500" y="428625"/>
                </a:lnTo>
                <a:cubicBezTo>
                  <a:pt x="317500" y="454918"/>
                  <a:pt x="338832" y="476250"/>
                  <a:pt x="365125" y="476250"/>
                </a:cubicBezTo>
                <a:lnTo>
                  <a:pt x="460375" y="476250"/>
                </a:lnTo>
                <a:cubicBezTo>
                  <a:pt x="486668" y="476250"/>
                  <a:pt x="508000" y="454918"/>
                  <a:pt x="508000" y="428625"/>
                </a:cubicBezTo>
                <a:lnTo>
                  <a:pt x="508000" y="365125"/>
                </a:lnTo>
                <a:cubicBezTo>
                  <a:pt x="508000" y="338832"/>
                  <a:pt x="486668" y="317500"/>
                  <a:pt x="460375" y="317500"/>
                </a:cubicBezTo>
                <a:lnTo>
                  <a:pt x="444500" y="317500"/>
                </a:lnTo>
                <a:lnTo>
                  <a:pt x="444500" y="285750"/>
                </a:lnTo>
                <a:lnTo>
                  <a:pt x="539750" y="285750"/>
                </a:lnTo>
                <a:cubicBezTo>
                  <a:pt x="557312" y="285750"/>
                  <a:pt x="571500" y="271562"/>
                  <a:pt x="571500" y="254000"/>
                </a:cubicBezTo>
                <a:cubicBezTo>
                  <a:pt x="571500" y="236438"/>
                  <a:pt x="557312" y="222250"/>
                  <a:pt x="539750" y="222250"/>
                </a:cubicBezTo>
                <a:lnTo>
                  <a:pt x="317500" y="222250"/>
                </a:lnTo>
                <a:lnTo>
                  <a:pt x="317500" y="190500"/>
                </a:lnTo>
                <a:lnTo>
                  <a:pt x="333375" y="190500"/>
                </a:lnTo>
                <a:cubicBezTo>
                  <a:pt x="359668" y="190500"/>
                  <a:pt x="381000" y="169168"/>
                  <a:pt x="381000" y="142875"/>
                </a:cubicBezTo>
                <a:lnTo>
                  <a:pt x="381000" y="79375"/>
                </a:lnTo>
                <a:cubicBezTo>
                  <a:pt x="381000" y="53082"/>
                  <a:pt x="359668" y="31750"/>
                  <a:pt x="333375" y="31750"/>
                </a:cubicBezTo>
                <a:lnTo>
                  <a:pt x="238125" y="31750"/>
                </a:lnTo>
                <a:close/>
                <a:moveTo>
                  <a:pt x="444500" y="373063"/>
                </a:moveTo>
                <a:lnTo>
                  <a:pt x="452437" y="373063"/>
                </a:lnTo>
                <a:lnTo>
                  <a:pt x="452437" y="420688"/>
                </a:lnTo>
                <a:lnTo>
                  <a:pt x="373063" y="420688"/>
                </a:lnTo>
                <a:lnTo>
                  <a:pt x="373063" y="373063"/>
                </a:lnTo>
                <a:lnTo>
                  <a:pt x="444500" y="373063"/>
                </a:lnTo>
                <a:close/>
                <a:moveTo>
                  <a:pt x="190500" y="373063"/>
                </a:moveTo>
                <a:lnTo>
                  <a:pt x="198438" y="373063"/>
                </a:lnTo>
                <a:lnTo>
                  <a:pt x="198438" y="420688"/>
                </a:lnTo>
                <a:lnTo>
                  <a:pt x="119063" y="420688"/>
                </a:lnTo>
                <a:lnTo>
                  <a:pt x="119063" y="373063"/>
                </a:lnTo>
                <a:lnTo>
                  <a:pt x="190500" y="373063"/>
                </a:ln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18" name="Text 16"/>
          <p:cNvSpPr/>
          <p:nvPr/>
        </p:nvSpPr>
        <p:spPr>
          <a:xfrm>
            <a:off x="15748000" y="4572000"/>
            <a:ext cx="355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VPC Flow Logs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748000" y="5207000"/>
            <a:ext cx="355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traffic analysis — lateral movement detection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0040600" y="3302000"/>
            <a:ext cx="4318000" cy="3556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1" name="Shape 19"/>
          <p:cNvSpPr/>
          <p:nvPr/>
        </p:nvSpPr>
        <p:spPr>
          <a:xfrm>
            <a:off x="20447000" y="3810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33375" y="349250"/>
                </a:moveTo>
                <a:cubicBezTo>
                  <a:pt x="429816" y="349250"/>
                  <a:pt x="508000" y="271066"/>
                  <a:pt x="508000" y="174625"/>
                </a:cubicBezTo>
                <a:cubicBezTo>
                  <a:pt x="508000" y="78184"/>
                  <a:pt x="429816" y="0"/>
                  <a:pt x="333375" y="0"/>
                </a:cubicBezTo>
                <a:cubicBezTo>
                  <a:pt x="236934" y="0"/>
                  <a:pt x="158750" y="78184"/>
                  <a:pt x="158750" y="174625"/>
                </a:cubicBezTo>
                <a:cubicBezTo>
                  <a:pt x="158750" y="193179"/>
                  <a:pt x="161627" y="211138"/>
                  <a:pt x="166985" y="227905"/>
                </a:cubicBezTo>
                <a:lnTo>
                  <a:pt x="6945" y="387945"/>
                </a:lnTo>
                <a:cubicBezTo>
                  <a:pt x="2480" y="392410"/>
                  <a:pt x="0" y="398463"/>
                  <a:pt x="0" y="404813"/>
                </a:cubicBezTo>
                <a:lnTo>
                  <a:pt x="0" y="484187"/>
                </a:lnTo>
                <a:cubicBezTo>
                  <a:pt x="0" y="497384"/>
                  <a:pt x="10616" y="508000"/>
                  <a:pt x="23812" y="508000"/>
                </a:cubicBezTo>
                <a:lnTo>
                  <a:pt x="103188" y="508000"/>
                </a:lnTo>
                <a:cubicBezTo>
                  <a:pt x="116384" y="508000"/>
                  <a:pt x="127000" y="497384"/>
                  <a:pt x="127000" y="484187"/>
                </a:cubicBezTo>
                <a:lnTo>
                  <a:pt x="127000" y="444500"/>
                </a:lnTo>
                <a:lnTo>
                  <a:pt x="166688" y="444500"/>
                </a:lnTo>
                <a:cubicBezTo>
                  <a:pt x="179884" y="444500"/>
                  <a:pt x="190500" y="433884"/>
                  <a:pt x="190500" y="420688"/>
                </a:cubicBezTo>
                <a:lnTo>
                  <a:pt x="190500" y="381000"/>
                </a:lnTo>
                <a:lnTo>
                  <a:pt x="230188" y="381000"/>
                </a:lnTo>
                <a:cubicBezTo>
                  <a:pt x="236538" y="381000"/>
                  <a:pt x="242590" y="378520"/>
                  <a:pt x="247055" y="374055"/>
                </a:cubicBezTo>
                <a:lnTo>
                  <a:pt x="280095" y="341015"/>
                </a:lnTo>
                <a:cubicBezTo>
                  <a:pt x="296862" y="346373"/>
                  <a:pt x="314821" y="349250"/>
                  <a:pt x="333375" y="349250"/>
                </a:cubicBezTo>
                <a:close/>
                <a:moveTo>
                  <a:pt x="373063" y="95250"/>
                </a:moveTo>
                <a:cubicBezTo>
                  <a:pt x="394967" y="95250"/>
                  <a:pt x="412750" y="113033"/>
                  <a:pt x="412750" y="134938"/>
                </a:cubicBezTo>
                <a:cubicBezTo>
                  <a:pt x="412750" y="156842"/>
                  <a:pt x="394967" y="174625"/>
                  <a:pt x="373063" y="174625"/>
                </a:cubicBezTo>
                <a:cubicBezTo>
                  <a:pt x="351158" y="174625"/>
                  <a:pt x="333375" y="156842"/>
                  <a:pt x="333375" y="134938"/>
                </a:cubicBezTo>
                <a:cubicBezTo>
                  <a:pt x="333375" y="113033"/>
                  <a:pt x="351158" y="95250"/>
                  <a:pt x="373063" y="95250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22" name="Text 20"/>
          <p:cNvSpPr/>
          <p:nvPr/>
        </p:nvSpPr>
        <p:spPr>
          <a:xfrm>
            <a:off x="20447000" y="4572000"/>
            <a:ext cx="355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IAM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0447000" y="5207000"/>
            <a:ext cx="355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Identity and access management — unused keys, privilege escalation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244600" y="7620000"/>
            <a:ext cx="5080000" cy="381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25" name="Text 23"/>
          <p:cNvSpPr/>
          <p:nvPr/>
        </p:nvSpPr>
        <p:spPr>
          <a:xfrm>
            <a:off x="1244600" y="8001000"/>
            <a:ext cx="152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Every service integration is modeled on </a:t>
            </a:r>
            <a:pPr>
              <a:lnSpc>
                <a:spcPct val="100000"/>
              </a:lnSpc>
            </a:pPr>
            <a:r>
              <a:rPr lang="en-US" sz="22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 AWS security architecture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016000"/>
            <a:ext cx="1524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Used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44600" y="19685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2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Simple, powerful, deployable anywhere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44600" y="3556000"/>
            <a:ext cx="6604000" cy="1524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1619250" y="4064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357981" y="1191"/>
                </a:moveTo>
                <a:cubicBezTo>
                  <a:pt x="341114" y="-3671"/>
                  <a:pt x="323552" y="6152"/>
                  <a:pt x="318691" y="23019"/>
                </a:cubicBezTo>
                <a:lnTo>
                  <a:pt x="191691" y="467519"/>
                </a:lnTo>
                <a:cubicBezTo>
                  <a:pt x="186829" y="484386"/>
                  <a:pt x="196652" y="501948"/>
                  <a:pt x="213519" y="506809"/>
                </a:cubicBezTo>
                <a:cubicBezTo>
                  <a:pt x="230386" y="511671"/>
                  <a:pt x="247948" y="501848"/>
                  <a:pt x="252809" y="484981"/>
                </a:cubicBezTo>
                <a:lnTo>
                  <a:pt x="379809" y="40481"/>
                </a:lnTo>
                <a:cubicBezTo>
                  <a:pt x="384671" y="23614"/>
                  <a:pt x="374848" y="6052"/>
                  <a:pt x="357981" y="1191"/>
                </a:cubicBezTo>
                <a:close/>
                <a:moveTo>
                  <a:pt x="422077" y="136227"/>
                </a:moveTo>
                <a:cubicBezTo>
                  <a:pt x="409674" y="148630"/>
                  <a:pt x="409674" y="168771"/>
                  <a:pt x="422077" y="181173"/>
                </a:cubicBezTo>
                <a:lnTo>
                  <a:pt x="494903" y="254000"/>
                </a:lnTo>
                <a:lnTo>
                  <a:pt x="422077" y="326827"/>
                </a:lnTo>
                <a:cubicBezTo>
                  <a:pt x="409674" y="339229"/>
                  <a:pt x="409674" y="359370"/>
                  <a:pt x="422077" y="371773"/>
                </a:cubicBezTo>
                <a:cubicBezTo>
                  <a:pt x="434479" y="384175"/>
                  <a:pt x="454620" y="384175"/>
                  <a:pt x="467023" y="371773"/>
                </a:cubicBezTo>
                <a:lnTo>
                  <a:pt x="562273" y="276523"/>
                </a:lnTo>
                <a:cubicBezTo>
                  <a:pt x="574675" y="264120"/>
                  <a:pt x="574675" y="243979"/>
                  <a:pt x="562273" y="231577"/>
                </a:cubicBezTo>
                <a:lnTo>
                  <a:pt x="467023" y="136327"/>
                </a:lnTo>
                <a:cubicBezTo>
                  <a:pt x="454620" y="123924"/>
                  <a:pt x="434479" y="123924"/>
                  <a:pt x="422077" y="136327"/>
                </a:cubicBezTo>
                <a:close/>
                <a:moveTo>
                  <a:pt x="149523" y="136227"/>
                </a:moveTo>
                <a:cubicBezTo>
                  <a:pt x="137120" y="123825"/>
                  <a:pt x="116979" y="123825"/>
                  <a:pt x="104577" y="136227"/>
                </a:cubicBezTo>
                <a:lnTo>
                  <a:pt x="9327" y="231477"/>
                </a:lnTo>
                <a:cubicBezTo>
                  <a:pt x="-3076" y="243880"/>
                  <a:pt x="-3076" y="264021"/>
                  <a:pt x="9327" y="276423"/>
                </a:cubicBezTo>
                <a:lnTo>
                  <a:pt x="104577" y="371673"/>
                </a:lnTo>
                <a:cubicBezTo>
                  <a:pt x="116979" y="384076"/>
                  <a:pt x="137120" y="384076"/>
                  <a:pt x="149523" y="371673"/>
                </a:cubicBezTo>
                <a:cubicBezTo>
                  <a:pt x="161925" y="359271"/>
                  <a:pt x="161925" y="339130"/>
                  <a:pt x="149523" y="326727"/>
                </a:cubicBezTo>
                <a:lnTo>
                  <a:pt x="76696" y="254000"/>
                </a:lnTo>
                <a:lnTo>
                  <a:pt x="149423" y="181173"/>
                </a:lnTo>
                <a:cubicBezTo>
                  <a:pt x="161826" y="168771"/>
                  <a:pt x="161826" y="148630"/>
                  <a:pt x="149423" y="136227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6" name="Text 4"/>
          <p:cNvSpPr/>
          <p:nvPr/>
        </p:nvSpPr>
        <p:spPr>
          <a:xfrm>
            <a:off x="2540000" y="3810000"/>
            <a:ext cx="25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HTML5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540000" y="4381500"/>
            <a:ext cx="482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 structure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56600" y="3556000"/>
            <a:ext cx="6604000" cy="1524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Shape 7"/>
          <p:cNvSpPr/>
          <p:nvPr/>
        </p:nvSpPr>
        <p:spPr>
          <a:xfrm>
            <a:off x="8763000" y="4064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508000" y="254000"/>
                </a:moveTo>
                <a:cubicBezTo>
                  <a:pt x="508000" y="254893"/>
                  <a:pt x="508000" y="255786"/>
                  <a:pt x="508000" y="256679"/>
                </a:cubicBezTo>
                <a:cubicBezTo>
                  <a:pt x="507603" y="292894"/>
                  <a:pt x="474663" y="317500"/>
                  <a:pt x="438448" y="317500"/>
                </a:cubicBezTo>
                <a:lnTo>
                  <a:pt x="341313" y="317500"/>
                </a:lnTo>
                <a:cubicBezTo>
                  <a:pt x="315020" y="317500"/>
                  <a:pt x="293688" y="338832"/>
                  <a:pt x="293688" y="365125"/>
                </a:cubicBezTo>
                <a:cubicBezTo>
                  <a:pt x="293688" y="368498"/>
                  <a:pt x="294084" y="371773"/>
                  <a:pt x="294680" y="374948"/>
                </a:cubicBezTo>
                <a:cubicBezTo>
                  <a:pt x="296763" y="385068"/>
                  <a:pt x="301129" y="394791"/>
                  <a:pt x="305395" y="404614"/>
                </a:cubicBezTo>
                <a:cubicBezTo>
                  <a:pt x="311448" y="418306"/>
                  <a:pt x="317401" y="431899"/>
                  <a:pt x="317401" y="446286"/>
                </a:cubicBezTo>
                <a:cubicBezTo>
                  <a:pt x="317401" y="477838"/>
                  <a:pt x="295970" y="506512"/>
                  <a:pt x="264418" y="507802"/>
                </a:cubicBezTo>
                <a:cubicBezTo>
                  <a:pt x="260945" y="507901"/>
                  <a:pt x="257473" y="508000"/>
                  <a:pt x="253901" y="508000"/>
                </a:cubicBezTo>
                <a:cubicBezTo>
                  <a:pt x="113605" y="508000"/>
                  <a:pt x="-99" y="394295"/>
                  <a:pt x="-99" y="254000"/>
                </a:cubicBezTo>
                <a:cubicBezTo>
                  <a:pt x="-99" y="113705"/>
                  <a:pt x="113705" y="0"/>
                  <a:pt x="254000" y="0"/>
                </a:cubicBezTo>
                <a:cubicBezTo>
                  <a:pt x="394295" y="0"/>
                  <a:pt x="508000" y="113705"/>
                  <a:pt x="508000" y="254000"/>
                </a:cubicBezTo>
                <a:close/>
                <a:moveTo>
                  <a:pt x="127000" y="285750"/>
                </a:moveTo>
                <a:cubicBezTo>
                  <a:pt x="127000" y="268227"/>
                  <a:pt x="112773" y="254000"/>
                  <a:pt x="95250" y="254000"/>
                </a:cubicBezTo>
                <a:cubicBezTo>
                  <a:pt x="77727" y="254000"/>
                  <a:pt x="63500" y="268227"/>
                  <a:pt x="63500" y="285750"/>
                </a:cubicBezTo>
                <a:cubicBezTo>
                  <a:pt x="63500" y="303273"/>
                  <a:pt x="77727" y="317500"/>
                  <a:pt x="95250" y="317500"/>
                </a:cubicBezTo>
                <a:cubicBezTo>
                  <a:pt x="112773" y="317500"/>
                  <a:pt x="127000" y="303273"/>
                  <a:pt x="127000" y="285750"/>
                </a:cubicBezTo>
                <a:close/>
                <a:moveTo>
                  <a:pt x="127000" y="190500"/>
                </a:moveTo>
                <a:cubicBezTo>
                  <a:pt x="144523" y="190500"/>
                  <a:pt x="158750" y="176273"/>
                  <a:pt x="158750" y="158750"/>
                </a:cubicBezTo>
                <a:cubicBezTo>
                  <a:pt x="158750" y="141227"/>
                  <a:pt x="144523" y="127000"/>
                  <a:pt x="127000" y="127000"/>
                </a:cubicBezTo>
                <a:cubicBezTo>
                  <a:pt x="109477" y="127000"/>
                  <a:pt x="95250" y="141227"/>
                  <a:pt x="95250" y="158750"/>
                </a:cubicBezTo>
                <a:cubicBezTo>
                  <a:pt x="95250" y="176273"/>
                  <a:pt x="109477" y="190500"/>
                  <a:pt x="127000" y="190500"/>
                </a:cubicBezTo>
                <a:close/>
                <a:moveTo>
                  <a:pt x="285750" y="95250"/>
                </a:moveTo>
                <a:cubicBezTo>
                  <a:pt x="285750" y="77727"/>
                  <a:pt x="271523" y="63500"/>
                  <a:pt x="254000" y="63500"/>
                </a:cubicBezTo>
                <a:cubicBezTo>
                  <a:pt x="236477" y="63500"/>
                  <a:pt x="222250" y="77727"/>
                  <a:pt x="222250" y="95250"/>
                </a:cubicBezTo>
                <a:cubicBezTo>
                  <a:pt x="222250" y="112773"/>
                  <a:pt x="236477" y="127000"/>
                  <a:pt x="254000" y="127000"/>
                </a:cubicBezTo>
                <a:cubicBezTo>
                  <a:pt x="271523" y="127000"/>
                  <a:pt x="285750" y="112773"/>
                  <a:pt x="285750" y="95250"/>
                </a:cubicBezTo>
                <a:close/>
                <a:moveTo>
                  <a:pt x="381000" y="190500"/>
                </a:moveTo>
                <a:cubicBezTo>
                  <a:pt x="398523" y="190500"/>
                  <a:pt x="412750" y="176273"/>
                  <a:pt x="412750" y="158750"/>
                </a:cubicBezTo>
                <a:cubicBezTo>
                  <a:pt x="412750" y="141227"/>
                  <a:pt x="398523" y="127000"/>
                  <a:pt x="381000" y="127000"/>
                </a:cubicBezTo>
                <a:cubicBezTo>
                  <a:pt x="363477" y="127000"/>
                  <a:pt x="349250" y="141227"/>
                  <a:pt x="349250" y="158750"/>
                </a:cubicBezTo>
                <a:cubicBezTo>
                  <a:pt x="349250" y="176273"/>
                  <a:pt x="363477" y="190500"/>
                  <a:pt x="381000" y="190500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10" name="Text 8"/>
          <p:cNvSpPr/>
          <p:nvPr/>
        </p:nvSpPr>
        <p:spPr>
          <a:xfrm>
            <a:off x="9652000" y="3810000"/>
            <a:ext cx="25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CSS3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52000" y="4381500"/>
            <a:ext cx="482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Styling, animations, responsive layout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5468600" y="3556000"/>
            <a:ext cx="6604000" cy="1524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Shape 11"/>
          <p:cNvSpPr/>
          <p:nvPr/>
        </p:nvSpPr>
        <p:spPr>
          <a:xfrm>
            <a:off x="15906750" y="4064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336153" y="-9823"/>
                </a:moveTo>
                <a:cubicBezTo>
                  <a:pt x="347960" y="-1290"/>
                  <a:pt x="352326" y="14188"/>
                  <a:pt x="346968" y="27682"/>
                </a:cubicBezTo>
                <a:lnTo>
                  <a:pt x="269180" y="222250"/>
                </a:lnTo>
                <a:lnTo>
                  <a:pt x="412750" y="222250"/>
                </a:lnTo>
                <a:cubicBezTo>
                  <a:pt x="426145" y="222250"/>
                  <a:pt x="438051" y="230584"/>
                  <a:pt x="442615" y="243185"/>
                </a:cubicBezTo>
                <a:cubicBezTo>
                  <a:pt x="447179" y="255786"/>
                  <a:pt x="443309" y="269875"/>
                  <a:pt x="433090" y="278408"/>
                </a:cubicBezTo>
                <a:lnTo>
                  <a:pt x="147340" y="516533"/>
                </a:lnTo>
                <a:cubicBezTo>
                  <a:pt x="136128" y="525859"/>
                  <a:pt x="120154" y="526355"/>
                  <a:pt x="108347" y="517823"/>
                </a:cubicBezTo>
                <a:cubicBezTo>
                  <a:pt x="96540" y="509290"/>
                  <a:pt x="92174" y="493812"/>
                  <a:pt x="97532" y="480318"/>
                </a:cubicBezTo>
                <a:lnTo>
                  <a:pt x="175320" y="285750"/>
                </a:lnTo>
                <a:lnTo>
                  <a:pt x="31750" y="285750"/>
                </a:lnTo>
                <a:cubicBezTo>
                  <a:pt x="18355" y="285750"/>
                  <a:pt x="6449" y="277416"/>
                  <a:pt x="1885" y="264815"/>
                </a:cubicBezTo>
                <a:cubicBezTo>
                  <a:pt x="-2679" y="252214"/>
                  <a:pt x="1191" y="238125"/>
                  <a:pt x="11410" y="229592"/>
                </a:cubicBezTo>
                <a:lnTo>
                  <a:pt x="297160" y="-8533"/>
                </a:lnTo>
                <a:cubicBezTo>
                  <a:pt x="308372" y="-17859"/>
                  <a:pt x="324346" y="-18355"/>
                  <a:pt x="336153" y="-9823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14" name="Text 12"/>
          <p:cNvSpPr/>
          <p:nvPr/>
        </p:nvSpPr>
        <p:spPr>
          <a:xfrm>
            <a:off x="16764000" y="3810000"/>
            <a:ext cx="482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Vanilla JavaScript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764000" y="4381500"/>
            <a:ext cx="482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Alert data, triage logic, interactivity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44600" y="5588000"/>
            <a:ext cx="6604000" cy="1524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Shape 15"/>
          <p:cNvSpPr/>
          <p:nvPr/>
        </p:nvSpPr>
        <p:spPr>
          <a:xfrm>
            <a:off x="1651000" y="6096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1750" y="31750"/>
                </a:moveTo>
                <a:cubicBezTo>
                  <a:pt x="49312" y="31750"/>
                  <a:pt x="63500" y="45938"/>
                  <a:pt x="63500" y="63500"/>
                </a:cubicBezTo>
                <a:lnTo>
                  <a:pt x="63500" y="396875"/>
                </a:lnTo>
                <a:cubicBezTo>
                  <a:pt x="63500" y="405606"/>
                  <a:pt x="70644" y="412750"/>
                  <a:pt x="79375" y="412750"/>
                </a:cubicBezTo>
                <a:lnTo>
                  <a:pt x="476250" y="412750"/>
                </a:lnTo>
                <a:cubicBezTo>
                  <a:pt x="493812" y="412750"/>
                  <a:pt x="508000" y="426938"/>
                  <a:pt x="508000" y="444500"/>
                </a:cubicBezTo>
                <a:cubicBezTo>
                  <a:pt x="508000" y="462062"/>
                  <a:pt x="493812" y="476250"/>
                  <a:pt x="476250" y="476250"/>
                </a:cubicBezTo>
                <a:lnTo>
                  <a:pt x="79375" y="476250"/>
                </a:lnTo>
                <a:cubicBezTo>
                  <a:pt x="35520" y="476250"/>
                  <a:pt x="0" y="440730"/>
                  <a:pt x="0" y="396875"/>
                </a:cubicBezTo>
                <a:lnTo>
                  <a:pt x="0" y="63500"/>
                </a:lnTo>
                <a:cubicBezTo>
                  <a:pt x="0" y="45938"/>
                  <a:pt x="14188" y="31750"/>
                  <a:pt x="31750" y="31750"/>
                </a:cubicBezTo>
                <a:close/>
                <a:moveTo>
                  <a:pt x="142875" y="222250"/>
                </a:moveTo>
                <a:cubicBezTo>
                  <a:pt x="160437" y="222250"/>
                  <a:pt x="174625" y="236438"/>
                  <a:pt x="174625" y="254000"/>
                </a:cubicBezTo>
                <a:lnTo>
                  <a:pt x="174625" y="317500"/>
                </a:lnTo>
                <a:cubicBezTo>
                  <a:pt x="174625" y="335062"/>
                  <a:pt x="160437" y="349250"/>
                  <a:pt x="142875" y="349250"/>
                </a:cubicBezTo>
                <a:cubicBezTo>
                  <a:pt x="125313" y="349250"/>
                  <a:pt x="111125" y="335062"/>
                  <a:pt x="111125" y="317500"/>
                </a:cubicBezTo>
                <a:lnTo>
                  <a:pt x="111125" y="254000"/>
                </a:lnTo>
                <a:cubicBezTo>
                  <a:pt x="111125" y="236438"/>
                  <a:pt x="125313" y="222250"/>
                  <a:pt x="142875" y="222250"/>
                </a:cubicBezTo>
                <a:close/>
                <a:moveTo>
                  <a:pt x="285750" y="158750"/>
                </a:moveTo>
                <a:lnTo>
                  <a:pt x="285750" y="317500"/>
                </a:lnTo>
                <a:cubicBezTo>
                  <a:pt x="285750" y="335062"/>
                  <a:pt x="271562" y="349250"/>
                  <a:pt x="254000" y="349250"/>
                </a:cubicBezTo>
                <a:cubicBezTo>
                  <a:pt x="236438" y="349250"/>
                  <a:pt x="222250" y="335062"/>
                  <a:pt x="222250" y="317500"/>
                </a:cubicBezTo>
                <a:lnTo>
                  <a:pt x="222250" y="158750"/>
                </a:lnTo>
                <a:cubicBezTo>
                  <a:pt x="222250" y="141188"/>
                  <a:pt x="236438" y="127000"/>
                  <a:pt x="254000" y="127000"/>
                </a:cubicBezTo>
                <a:cubicBezTo>
                  <a:pt x="271562" y="127000"/>
                  <a:pt x="285750" y="141188"/>
                  <a:pt x="285750" y="158750"/>
                </a:cubicBezTo>
                <a:close/>
                <a:moveTo>
                  <a:pt x="365125" y="190500"/>
                </a:moveTo>
                <a:cubicBezTo>
                  <a:pt x="382687" y="190500"/>
                  <a:pt x="396875" y="204688"/>
                  <a:pt x="396875" y="222250"/>
                </a:cubicBezTo>
                <a:lnTo>
                  <a:pt x="396875" y="317500"/>
                </a:lnTo>
                <a:cubicBezTo>
                  <a:pt x="396875" y="335062"/>
                  <a:pt x="382687" y="349250"/>
                  <a:pt x="365125" y="349250"/>
                </a:cubicBezTo>
                <a:cubicBezTo>
                  <a:pt x="347563" y="349250"/>
                  <a:pt x="333375" y="335062"/>
                  <a:pt x="333375" y="317500"/>
                </a:cubicBezTo>
                <a:lnTo>
                  <a:pt x="333375" y="222250"/>
                </a:lnTo>
                <a:cubicBezTo>
                  <a:pt x="333375" y="204688"/>
                  <a:pt x="347563" y="190500"/>
                  <a:pt x="365125" y="190500"/>
                </a:cubicBezTo>
                <a:close/>
                <a:moveTo>
                  <a:pt x="508000" y="95250"/>
                </a:moveTo>
                <a:lnTo>
                  <a:pt x="508000" y="317500"/>
                </a:lnTo>
                <a:cubicBezTo>
                  <a:pt x="508000" y="335062"/>
                  <a:pt x="493812" y="349250"/>
                  <a:pt x="476250" y="349250"/>
                </a:cubicBezTo>
                <a:cubicBezTo>
                  <a:pt x="458688" y="349250"/>
                  <a:pt x="444500" y="335062"/>
                  <a:pt x="444500" y="317500"/>
                </a:cubicBezTo>
                <a:lnTo>
                  <a:pt x="444500" y="95250"/>
                </a:lnTo>
                <a:cubicBezTo>
                  <a:pt x="444500" y="77688"/>
                  <a:pt x="458688" y="63500"/>
                  <a:pt x="476250" y="63500"/>
                </a:cubicBezTo>
                <a:cubicBezTo>
                  <a:pt x="493812" y="63500"/>
                  <a:pt x="508000" y="77688"/>
                  <a:pt x="508000" y="95250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18" name="Text 16"/>
          <p:cNvSpPr/>
          <p:nvPr/>
        </p:nvSpPr>
        <p:spPr>
          <a:xfrm>
            <a:off x="2540000" y="5842000"/>
            <a:ext cx="25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Chart.js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540000" y="6413500"/>
            <a:ext cx="482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Bar charts, line charts, data visualization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56600" y="5588000"/>
            <a:ext cx="6604000" cy="1524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1" name="Shape 19"/>
          <p:cNvSpPr/>
          <p:nvPr/>
        </p:nvSpPr>
        <p:spPr>
          <a:xfrm>
            <a:off x="8699500" y="6096000"/>
            <a:ext cx="635000" cy="508000"/>
          </a:xfrm>
          <a:custGeom>
            <a:avLst/>
            <a:gdLst/>
            <a:ahLst/>
            <a:cxnLst/>
            <a:rect l="l" t="t" r="r" b="b"/>
            <a:pathLst>
              <a:path w="635000" h="508000">
                <a:moveTo>
                  <a:pt x="349250" y="0"/>
                </a:moveTo>
                <a:cubicBezTo>
                  <a:pt x="349250" y="-17562"/>
                  <a:pt x="335062" y="-31750"/>
                  <a:pt x="317500" y="-31750"/>
                </a:cubicBezTo>
                <a:cubicBezTo>
                  <a:pt x="299938" y="-31750"/>
                  <a:pt x="285750" y="-17562"/>
                  <a:pt x="285750" y="0"/>
                </a:cubicBezTo>
                <a:lnTo>
                  <a:pt x="285750" y="63500"/>
                </a:lnTo>
                <a:lnTo>
                  <a:pt x="190500" y="63500"/>
                </a:lnTo>
                <a:cubicBezTo>
                  <a:pt x="137914" y="63500"/>
                  <a:pt x="95250" y="106164"/>
                  <a:pt x="95250" y="158750"/>
                </a:cubicBezTo>
                <a:lnTo>
                  <a:pt x="95250" y="381000"/>
                </a:lnTo>
                <a:cubicBezTo>
                  <a:pt x="95250" y="433586"/>
                  <a:pt x="137914" y="476250"/>
                  <a:pt x="190500" y="476250"/>
                </a:cubicBezTo>
                <a:lnTo>
                  <a:pt x="444500" y="476250"/>
                </a:lnTo>
                <a:cubicBezTo>
                  <a:pt x="497086" y="476250"/>
                  <a:pt x="539750" y="433586"/>
                  <a:pt x="539750" y="381000"/>
                </a:cubicBezTo>
                <a:lnTo>
                  <a:pt x="539750" y="158750"/>
                </a:lnTo>
                <a:cubicBezTo>
                  <a:pt x="539750" y="106164"/>
                  <a:pt x="497086" y="63500"/>
                  <a:pt x="444500" y="63500"/>
                </a:cubicBezTo>
                <a:lnTo>
                  <a:pt x="349250" y="63500"/>
                </a:lnTo>
                <a:lnTo>
                  <a:pt x="349250" y="0"/>
                </a:lnTo>
                <a:close/>
                <a:moveTo>
                  <a:pt x="158750" y="365125"/>
                </a:moveTo>
                <a:cubicBezTo>
                  <a:pt x="158750" y="351929"/>
                  <a:pt x="169366" y="341313"/>
                  <a:pt x="182563" y="341313"/>
                </a:cubicBezTo>
                <a:lnTo>
                  <a:pt x="214313" y="341313"/>
                </a:lnTo>
                <a:cubicBezTo>
                  <a:pt x="227509" y="341313"/>
                  <a:pt x="238125" y="351929"/>
                  <a:pt x="238125" y="365125"/>
                </a:cubicBezTo>
                <a:cubicBezTo>
                  <a:pt x="238125" y="378321"/>
                  <a:pt x="227509" y="388938"/>
                  <a:pt x="214313" y="388938"/>
                </a:cubicBezTo>
                <a:lnTo>
                  <a:pt x="182563" y="388938"/>
                </a:lnTo>
                <a:cubicBezTo>
                  <a:pt x="169366" y="388938"/>
                  <a:pt x="158750" y="378321"/>
                  <a:pt x="158750" y="365125"/>
                </a:cubicBezTo>
                <a:close/>
                <a:moveTo>
                  <a:pt x="277813" y="365125"/>
                </a:moveTo>
                <a:cubicBezTo>
                  <a:pt x="277813" y="351929"/>
                  <a:pt x="288429" y="341313"/>
                  <a:pt x="301625" y="341313"/>
                </a:cubicBezTo>
                <a:lnTo>
                  <a:pt x="333375" y="341313"/>
                </a:lnTo>
                <a:cubicBezTo>
                  <a:pt x="346571" y="341313"/>
                  <a:pt x="357188" y="351929"/>
                  <a:pt x="357188" y="365125"/>
                </a:cubicBezTo>
                <a:cubicBezTo>
                  <a:pt x="357188" y="378321"/>
                  <a:pt x="346571" y="388938"/>
                  <a:pt x="333375" y="388938"/>
                </a:cubicBezTo>
                <a:lnTo>
                  <a:pt x="301625" y="388938"/>
                </a:lnTo>
                <a:cubicBezTo>
                  <a:pt x="288429" y="388938"/>
                  <a:pt x="277813" y="378321"/>
                  <a:pt x="277813" y="365125"/>
                </a:cubicBezTo>
                <a:close/>
                <a:moveTo>
                  <a:pt x="396875" y="365125"/>
                </a:moveTo>
                <a:cubicBezTo>
                  <a:pt x="396875" y="351929"/>
                  <a:pt x="407491" y="341313"/>
                  <a:pt x="420688" y="341313"/>
                </a:cubicBezTo>
                <a:lnTo>
                  <a:pt x="452437" y="341313"/>
                </a:lnTo>
                <a:cubicBezTo>
                  <a:pt x="465634" y="341313"/>
                  <a:pt x="476250" y="351929"/>
                  <a:pt x="476250" y="365125"/>
                </a:cubicBezTo>
                <a:cubicBezTo>
                  <a:pt x="476250" y="378321"/>
                  <a:pt x="465634" y="388938"/>
                  <a:pt x="452437" y="388938"/>
                </a:cubicBezTo>
                <a:lnTo>
                  <a:pt x="420688" y="388938"/>
                </a:lnTo>
                <a:cubicBezTo>
                  <a:pt x="407491" y="388938"/>
                  <a:pt x="396875" y="378321"/>
                  <a:pt x="396875" y="365125"/>
                </a:cubicBezTo>
                <a:close/>
                <a:moveTo>
                  <a:pt x="222250" y="174625"/>
                </a:moveTo>
                <a:cubicBezTo>
                  <a:pt x="248535" y="174625"/>
                  <a:pt x="269875" y="195965"/>
                  <a:pt x="269875" y="222250"/>
                </a:cubicBezTo>
                <a:cubicBezTo>
                  <a:pt x="269875" y="248535"/>
                  <a:pt x="248535" y="269875"/>
                  <a:pt x="222250" y="269875"/>
                </a:cubicBezTo>
                <a:cubicBezTo>
                  <a:pt x="195965" y="269875"/>
                  <a:pt x="174625" y="248535"/>
                  <a:pt x="174625" y="222250"/>
                </a:cubicBezTo>
                <a:cubicBezTo>
                  <a:pt x="174625" y="195965"/>
                  <a:pt x="195965" y="174625"/>
                  <a:pt x="222250" y="174625"/>
                </a:cubicBezTo>
                <a:close/>
                <a:moveTo>
                  <a:pt x="365125" y="222250"/>
                </a:moveTo>
                <a:cubicBezTo>
                  <a:pt x="365125" y="195965"/>
                  <a:pt x="386465" y="174625"/>
                  <a:pt x="412750" y="174625"/>
                </a:cubicBezTo>
                <a:cubicBezTo>
                  <a:pt x="439035" y="174625"/>
                  <a:pt x="460375" y="195965"/>
                  <a:pt x="460375" y="222250"/>
                </a:cubicBezTo>
                <a:cubicBezTo>
                  <a:pt x="460375" y="248535"/>
                  <a:pt x="439035" y="269875"/>
                  <a:pt x="412750" y="269875"/>
                </a:cubicBezTo>
                <a:cubicBezTo>
                  <a:pt x="386465" y="269875"/>
                  <a:pt x="365125" y="248535"/>
                  <a:pt x="365125" y="222250"/>
                </a:cubicBezTo>
                <a:close/>
                <a:moveTo>
                  <a:pt x="63500" y="222250"/>
                </a:moveTo>
                <a:cubicBezTo>
                  <a:pt x="63500" y="204688"/>
                  <a:pt x="49312" y="190500"/>
                  <a:pt x="31750" y="190500"/>
                </a:cubicBezTo>
                <a:cubicBezTo>
                  <a:pt x="14188" y="190500"/>
                  <a:pt x="0" y="204688"/>
                  <a:pt x="0" y="222250"/>
                </a:cubicBezTo>
                <a:lnTo>
                  <a:pt x="0" y="317500"/>
                </a:lnTo>
                <a:cubicBezTo>
                  <a:pt x="0" y="335062"/>
                  <a:pt x="14188" y="349250"/>
                  <a:pt x="31750" y="349250"/>
                </a:cubicBezTo>
                <a:cubicBezTo>
                  <a:pt x="49312" y="349250"/>
                  <a:pt x="63500" y="335062"/>
                  <a:pt x="63500" y="317500"/>
                </a:cubicBezTo>
                <a:lnTo>
                  <a:pt x="63500" y="222250"/>
                </a:lnTo>
                <a:close/>
                <a:moveTo>
                  <a:pt x="603250" y="190500"/>
                </a:moveTo>
                <a:cubicBezTo>
                  <a:pt x="585688" y="190500"/>
                  <a:pt x="571500" y="204688"/>
                  <a:pt x="571500" y="222250"/>
                </a:cubicBezTo>
                <a:lnTo>
                  <a:pt x="571500" y="317500"/>
                </a:lnTo>
                <a:cubicBezTo>
                  <a:pt x="571500" y="335062"/>
                  <a:pt x="585688" y="349250"/>
                  <a:pt x="603250" y="349250"/>
                </a:cubicBezTo>
                <a:cubicBezTo>
                  <a:pt x="620812" y="349250"/>
                  <a:pt x="635000" y="335062"/>
                  <a:pt x="635000" y="317500"/>
                </a:cubicBezTo>
                <a:lnTo>
                  <a:pt x="635000" y="222250"/>
                </a:lnTo>
                <a:cubicBezTo>
                  <a:pt x="635000" y="204688"/>
                  <a:pt x="620812" y="190500"/>
                  <a:pt x="603250" y="190500"/>
                </a:cubicBezTo>
                <a:close/>
              </a:path>
            </a:pathLst>
          </a:custGeom>
          <a:solidFill>
            <a:srgbClr val="7EC0DA"/>
          </a:solidFill>
          <a:ln/>
        </p:spPr>
      </p:sp>
      <p:sp>
        <p:nvSpPr>
          <p:cNvPr id="22" name="Text 20"/>
          <p:cNvSpPr/>
          <p:nvPr/>
        </p:nvSpPr>
        <p:spPr>
          <a:xfrm>
            <a:off x="9652000" y="5842000"/>
            <a:ext cx="25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Tools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52000" y="6413500"/>
            <a:ext cx="482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Accelerated development and UI generation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244600" y="8128000"/>
            <a:ext cx="5080000" cy="381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25" name="Text 23"/>
          <p:cNvSpPr/>
          <p:nvPr/>
        </p:nvSpPr>
        <p:spPr>
          <a:xfrm>
            <a:off x="1244600" y="8509000"/>
            <a:ext cx="152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frameworks. No backend. No database.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Single file — open in any browser and it works.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4600" y="1016000"/>
            <a:ext cx="1143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This Shows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44600" y="19685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200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Beyond the demo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44600" y="3556000"/>
            <a:ext cx="215900" cy="2159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5" name="Text 3"/>
          <p:cNvSpPr/>
          <p:nvPr/>
        </p:nvSpPr>
        <p:spPr>
          <a:xfrm>
            <a:off x="1778000" y="3429000"/>
            <a:ext cx="215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depth</a:t>
            </a:r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cloud security architecture, real AWS threat patterns, AI triage models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244600" y="4572000"/>
            <a:ext cx="215900" cy="2159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7" name="Text 5"/>
          <p:cNvSpPr/>
          <p:nvPr/>
        </p:nvSpPr>
        <p:spPr>
          <a:xfrm>
            <a:off x="1778000" y="4445000"/>
            <a:ext cx="215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proficiency</a:t>
            </a:r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used AI tools to build production-quality interfaces, actively developing this skill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244600" y="5588000"/>
            <a:ext cx="215900" cy="2159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9" name="Text 7"/>
          <p:cNvSpPr/>
          <p:nvPr/>
        </p:nvSpPr>
        <p:spPr>
          <a:xfrm>
            <a:off x="1778000" y="5461000"/>
            <a:ext cx="215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Healthcare domain knowledge</a:t>
            </a:r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direct experience with HIPAA, PHI, and Oracle healthcare APIs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244600" y="6604000"/>
            <a:ext cx="215900" cy="2159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1" name="Text 9"/>
          <p:cNvSpPr/>
          <p:nvPr/>
        </p:nvSpPr>
        <p:spPr>
          <a:xfrm>
            <a:off x="1778000" y="6477000"/>
            <a:ext cx="215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Initiative</a:t>
            </a:r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I didn't wait to be asked. I saw TENEX, got excited, and built something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244600" y="7620000"/>
            <a:ext cx="215900" cy="215900"/>
          </a:xfrm>
          <a:prstGeom prst="ellipse">
            <a:avLst/>
          </a:prstGeom>
          <a:solidFill>
            <a:srgbClr val="7EC0DA"/>
          </a:solidFill>
          <a:ln/>
        </p:spPr>
      </p:sp>
      <p:sp>
        <p:nvSpPr>
          <p:cNvPr id="13" name="Text 11"/>
          <p:cNvSpPr/>
          <p:nvPr/>
        </p:nvSpPr>
        <p:spPr>
          <a:xfrm>
            <a:off x="1778000" y="7493000"/>
            <a:ext cx="215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Local fit</a:t>
            </a:r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Based in Olathe, KS — minutes from the Overland Park office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244600" y="9144000"/>
            <a:ext cx="5080000" cy="381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15" name="Text 13"/>
          <p:cNvSpPr/>
          <p:nvPr/>
        </p:nvSpPr>
        <p:spPr>
          <a:xfrm>
            <a:off x="1244600" y="9525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demo represents </a:t>
            </a:r>
            <a:pPr>
              <a:lnSpc>
                <a:spcPct val="10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more than code</a:t>
            </a:r>
            <a:pPr>
              <a:lnSpc>
                <a:spcPct val="100000"/>
              </a:lnSpc>
            </a:pPr>
            <a:r>
              <a:rPr lang="en-US" sz="24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it represents how I work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oe5pvur7euouc/mnt/agents/output/tenex-cloudguard/images/5_Abstract_Tech_Background_in_Dark.png">    </p:cNvPr>
          <p:cNvPicPr>
            <a:picLocks noChangeAspect="1"/>
          </p:cNvPicPr>
          <p:nvPr/>
        </p:nvPicPr>
        <p:blipFill>
          <a:blip r:embed="rId1"/>
          <a:srcRect l="5556" r="5556" t="0" b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rotWithShape="1" flip="none">
            <a:gsLst>
              <a:gs pos="0">
                <a:srgbClr val="292929"/>
              </a:gs>
              <a:gs pos="40000">
                <a:srgbClr val="292929">
                  <a:alpha val="87000"/>
                </a:srgbClr>
              </a:gs>
              <a:gs pos="100000">
                <a:srgbClr val="292929">
                  <a:alpha val="6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244600" y="2540000"/>
            <a:ext cx="1016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5600" b="1" spc="-12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Let's Talk</a:t>
            </a:r>
            <a:endParaRPr lang="en-US" sz="5600" dirty="0"/>
          </a:p>
        </p:txBody>
      </p:sp>
      <p:sp>
        <p:nvSpPr>
          <p:cNvPr id="5" name="Shape 2"/>
          <p:cNvSpPr/>
          <p:nvPr/>
        </p:nvSpPr>
        <p:spPr>
          <a:xfrm>
            <a:off x="1244600" y="4064000"/>
            <a:ext cx="1905000" cy="50800"/>
          </a:xfrm>
          <a:prstGeom prst="rect">
            <a:avLst/>
          </a:prstGeom>
          <a:solidFill>
            <a:srgbClr val="7EC0DA"/>
          </a:solidFill>
          <a:ln/>
        </p:spPr>
      </p:sp>
      <p:sp>
        <p:nvSpPr>
          <p:cNvPr id="6" name="Text 3"/>
          <p:cNvSpPr/>
          <p:nvPr/>
        </p:nvSpPr>
        <p:spPr>
          <a:xfrm>
            <a:off x="1244600" y="4572000"/>
            <a:ext cx="11430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I'm a Software Engineer with </a:t>
            </a:r>
            <a:pPr>
              <a:lnSpc>
                <a:spcPct val="15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10+ years of experience</a:t>
            </a:r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  I'm motivated, I learn fast, and I'm genuinely excited about what TENEX is building at the intersection of </a:t>
            </a:r>
            <a:pPr>
              <a:lnSpc>
                <a:spcPct val="150000"/>
              </a:lnSpc>
            </a:pPr>
            <a:r>
              <a:rPr lang="en-US" sz="2400" b="1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and cybersecurity</a:t>
            </a:r>
            <a:pPr>
              <a:lnSpc>
                <a:spcPct val="15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2400" dirty="0"/>
          </a:p>
          <a:p>
            <a:pPr>
              <a:lnSpc>
                <a:spcPct val="150000"/>
              </a:lnSpc>
              <a:spcBef>
                <a:spcPts val="1600"/>
              </a:spcBef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I'd love to explore how I can contribute — whether that's cloud infrastructure, platform engineering, or anything that puts my skills to work for your team.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244600" y="8509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Smita Darshale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44600" y="9271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smita.darshale@gmail.com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44600" y="9906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AAAA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+1-913-244-6313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244600" y="10541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u="sng" dirty="0">
                <a:solidFill>
                  <a:srgbClr val="7EC0DA"/>
                </a:solidFill>
                <a:latin typeface="Liter" pitchFamily="34" charset="0"/>
                <a:ea typeface="Liter" pitchFamily="34" charset="-122"/>
                <a:cs typeface="Liter" pitchFamily="34" charset="-120"/>
                <a:hlinkClick r:id="rId2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linkedin.com/in/darshalesmita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TENEX CloudGuard: AWS Security Command Center</dc:title>
  <dc:subject>TENEX CloudGuard: AWS Security Command Center</dc:subject>
  <dc:creator>Kimi</dc:creator>
  <cp:lastModifiedBy>Kimi</cp:lastModifiedBy>
  <cp:revision>1</cp:revision>
  <dcterms:created xsi:type="dcterms:W3CDTF">2026-04-22T23:56:25Z</dcterms:created>
  <dcterms:modified xsi:type="dcterms:W3CDTF">2026-04-22T23:56:25Z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{"Label":"TENEX CloudGuard: AWS Security Command Center","ContentProducer":"001191110108MACG2KBH8F10000","ProduceID":"19db79e5-e102-8da0-8000-00004df6df26","ReservedCode1":"","ContentPropagator":"001191110108MACG2KBH8F20000","PropagateID":"19db79e5-e102-8da0-8000-00004df6df26","ReservedCode2":""}</vt:lpwstr>
  </property>
</Properties>
</file>